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ce292025e94a6e" /><Relationship Type="http://schemas.openxmlformats.org/officeDocument/2006/relationships/extended-properties" Target="/docProps/app.xml" Id="Rb7cf48d50ea4436d" /><Relationship Type="http://schemas.openxmlformats.org/officeDocument/2006/relationships/officeDocument" Target="/ppt/presentation.xml" Id="R5491b13cf36040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6b345d5c4a4bff"/>
  </p:sldMasterIdLst>
  <p:notesMasterIdLst>
    <p:notesMasterId xmlns:r="http://schemas.openxmlformats.org/officeDocument/2006/relationships" r:id="R156c8be4d02a45b1"/>
  </p:notesMasterIdLst>
  <p:sldIdLst>
    <p:sldId xmlns:r="http://schemas.openxmlformats.org/officeDocument/2006/relationships" id="256" r:id="Rc0e3f0bb74e54a8b"/>
    <p:sldId xmlns:r="http://schemas.openxmlformats.org/officeDocument/2006/relationships" id="257" r:id="Rcbd6b6f4a8b74401"/>
    <p:sldId xmlns:r="http://schemas.openxmlformats.org/officeDocument/2006/relationships" id="258" r:id="Rc7ffddf899d64b3e"/>
    <p:sldId xmlns:r="http://schemas.openxmlformats.org/officeDocument/2006/relationships" id="259" r:id="R7391213ae9ce4934"/>
    <p:sldId xmlns:r="http://schemas.openxmlformats.org/officeDocument/2006/relationships" id="260" r:id="R327b2f3b32cc4d41"/>
    <p:sldId xmlns:r="http://schemas.openxmlformats.org/officeDocument/2006/relationships" id="261" r:id="R79f60a4b4ab348ee"/>
    <p:sldId xmlns:r="http://schemas.openxmlformats.org/officeDocument/2006/relationships" id="262" r:id="Rd05c359a1e824d30"/>
    <p:sldId xmlns:r="http://schemas.openxmlformats.org/officeDocument/2006/relationships" id="263" r:id="R2ce1c604ed9e4656"/>
    <p:sldId xmlns:r="http://schemas.openxmlformats.org/officeDocument/2006/relationships" id="264" r:id="R871d865722ca4976"/>
    <p:sldId xmlns:r="http://schemas.openxmlformats.org/officeDocument/2006/relationships" id="265" r:id="R3871c8f6243c4bb8"/>
    <p:sldId xmlns:r="http://schemas.openxmlformats.org/officeDocument/2006/relationships" id="266" r:id="R4bf61ec629294080"/>
    <p:sldId xmlns:r="http://schemas.openxmlformats.org/officeDocument/2006/relationships" id="267" r:id="Raca3f3f826b14eab"/>
    <p:sldId xmlns:r="http://schemas.openxmlformats.org/officeDocument/2006/relationships" id="268" r:id="R81d7ed6910214d7a"/>
    <p:sldId xmlns:r="http://schemas.openxmlformats.org/officeDocument/2006/relationships" id="269" r:id="R8c447a796492465c"/>
    <p:sldId xmlns:r="http://schemas.openxmlformats.org/officeDocument/2006/relationships" id="270" r:id="R3c809fb9304c4130"/>
    <p:sldId xmlns:r="http://schemas.openxmlformats.org/officeDocument/2006/relationships" id="271" r:id="R901ac6a090f5442c"/>
    <p:sldId xmlns:r="http://schemas.openxmlformats.org/officeDocument/2006/relationships" id="272" r:id="Rc779f874e90c4a3a"/>
    <p:sldId xmlns:r="http://schemas.openxmlformats.org/officeDocument/2006/relationships" id="273" r:id="R8cf4b7c29cbd45cc"/>
    <p:sldId xmlns:r="http://schemas.openxmlformats.org/officeDocument/2006/relationships" id="274" r:id="Rf095ee900a8443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63cdeef71a4f5b" /><Relationship Type="http://schemas.openxmlformats.org/officeDocument/2006/relationships/slideMaster" Target="/ppt/slideMasters/slideMaster1.xml" Id="Rcc6b345d5c4a4bff" /><Relationship Type="http://schemas.openxmlformats.org/officeDocument/2006/relationships/notesMaster" Target="/ppt/notesMasters/notesMaster1.xml" Id="R156c8be4d02a45b1" /><Relationship Type="http://schemas.openxmlformats.org/officeDocument/2006/relationships/presProps" Target="/ppt/presProps.xml" Id="R8ddb1dc6316a4e52" /><Relationship Type="http://schemas.openxmlformats.org/officeDocument/2006/relationships/tableStyles" Target="/ppt/tableStyles.xml" Id="R5747d1ef2adc4bcc" /><Relationship Type="http://schemas.openxmlformats.org/officeDocument/2006/relationships/slide" Target="/ppt/slides/slide1.xml" Id="Rc0e3f0bb74e54a8b" /><Relationship Type="http://schemas.openxmlformats.org/officeDocument/2006/relationships/slide" Target="/ppt/slides/slide2.xml" Id="Rcbd6b6f4a8b74401" /><Relationship Type="http://schemas.openxmlformats.org/officeDocument/2006/relationships/slide" Target="/ppt/slides/slide3.xml" Id="Rc7ffddf899d64b3e" /><Relationship Type="http://schemas.openxmlformats.org/officeDocument/2006/relationships/slide" Target="/ppt/slides/slide4.xml" Id="R7391213ae9ce4934" /><Relationship Type="http://schemas.openxmlformats.org/officeDocument/2006/relationships/slide" Target="/ppt/slides/slide5.xml" Id="R327b2f3b32cc4d41" /><Relationship Type="http://schemas.openxmlformats.org/officeDocument/2006/relationships/slide" Target="/ppt/slides/slide6.xml" Id="R79f60a4b4ab348ee" /><Relationship Type="http://schemas.openxmlformats.org/officeDocument/2006/relationships/slide" Target="/ppt/slides/slide7.xml" Id="Rd05c359a1e824d30" /><Relationship Type="http://schemas.openxmlformats.org/officeDocument/2006/relationships/slide" Target="/ppt/slides/slide8.xml" Id="R2ce1c604ed9e4656" /><Relationship Type="http://schemas.openxmlformats.org/officeDocument/2006/relationships/slide" Target="/ppt/slides/slide9.xml" Id="R871d865722ca4976" /><Relationship Type="http://schemas.openxmlformats.org/officeDocument/2006/relationships/slide" Target="/ppt/slides/slide10.xml" Id="R3871c8f6243c4bb8" /><Relationship Type="http://schemas.openxmlformats.org/officeDocument/2006/relationships/slide" Target="/ppt/slides/slide11.xml" Id="R4bf61ec629294080" /><Relationship Type="http://schemas.openxmlformats.org/officeDocument/2006/relationships/slide" Target="/ppt/slides/slide12.xml" Id="Raca3f3f826b14eab" /><Relationship Type="http://schemas.openxmlformats.org/officeDocument/2006/relationships/slide" Target="/ppt/slides/slide13.xml" Id="R81d7ed6910214d7a" /><Relationship Type="http://schemas.openxmlformats.org/officeDocument/2006/relationships/slide" Target="/ppt/slides/slide14.xml" Id="R8c447a796492465c" /><Relationship Type="http://schemas.openxmlformats.org/officeDocument/2006/relationships/slide" Target="/ppt/slides/slide15.xml" Id="R3c809fb9304c4130" /><Relationship Type="http://schemas.openxmlformats.org/officeDocument/2006/relationships/slide" Target="/ppt/slides/slide16.xml" Id="R901ac6a090f5442c" /><Relationship Type="http://schemas.openxmlformats.org/officeDocument/2006/relationships/slide" Target="/ppt/slides/slide17.xml" Id="Rc779f874e90c4a3a" /><Relationship Type="http://schemas.openxmlformats.org/officeDocument/2006/relationships/slide" Target="/ppt/slides/slide18.xml" Id="R8cf4b7c29cbd45cc" /><Relationship Type="http://schemas.openxmlformats.org/officeDocument/2006/relationships/slide" Target="/ppt/slides/slide19.xml" Id="Rf095ee900a8443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e457b01e3947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db411b7eef4ea8" /><Relationship Type="http://schemas.openxmlformats.org/officeDocument/2006/relationships/notesMaster" Target="/ppt/notesMasters/notesMaster1.xml" Id="R66c088ce2a8341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cd3752a56e422c" /><Relationship Type="http://schemas.openxmlformats.org/officeDocument/2006/relationships/notesMaster" Target="/ppt/notesMasters/notesMaster1.xml" Id="R9042784882ce48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55c798ae8c4801" /><Relationship Type="http://schemas.openxmlformats.org/officeDocument/2006/relationships/notesMaster" Target="/ppt/notesMasters/notesMaster1.xml" Id="R5381fbbe41a64c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eaf5156a794cc0" /><Relationship Type="http://schemas.openxmlformats.org/officeDocument/2006/relationships/notesMaster" Target="/ppt/notesMasters/notesMaster1.xml" Id="R15143e938fa14b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4ccac0c81845cf" /><Relationship Type="http://schemas.openxmlformats.org/officeDocument/2006/relationships/notesMaster" Target="/ppt/notesMasters/notesMaster1.xml" Id="Rd2a61724580345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341ffb5c184a92" /><Relationship Type="http://schemas.openxmlformats.org/officeDocument/2006/relationships/notesMaster" Target="/ppt/notesMasters/notesMaster1.xml" Id="Ree4d327843904e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5ee38b7c2944fd" /><Relationship Type="http://schemas.openxmlformats.org/officeDocument/2006/relationships/notesMaster" Target="/ppt/notesMasters/notesMaster1.xml" Id="Red72b68b52694a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62915536a44cf" /><Relationship Type="http://schemas.openxmlformats.org/officeDocument/2006/relationships/notesMaster" Target="/ppt/notesMasters/notesMaster1.xml" Id="R1bb7d542119444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de6fce459b4e47" /><Relationship Type="http://schemas.openxmlformats.org/officeDocument/2006/relationships/notesMaster" Target="/ppt/notesMasters/notesMaster1.xml" Id="Ra1468d9ba9c04b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5f79d177744bc7" /><Relationship Type="http://schemas.openxmlformats.org/officeDocument/2006/relationships/notesMaster" Target="/ppt/notesMasters/notesMaster1.xml" Id="R0ec7e67c346e48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7e3bb132d445c8" /><Relationship Type="http://schemas.openxmlformats.org/officeDocument/2006/relationships/notesMaster" Target="/ppt/notesMasters/notesMaster1.xml" Id="Reed814227a4045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96cff70746496c" /><Relationship Type="http://schemas.openxmlformats.org/officeDocument/2006/relationships/notesMaster" Target="/ppt/notesMasters/notesMaster1.xml" Id="R9c88cb86ab4249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7f01ae1a4849b5" /><Relationship Type="http://schemas.openxmlformats.org/officeDocument/2006/relationships/notesMaster" Target="/ppt/notesMasters/notesMaster1.xml" Id="Rceebb6691b6a4c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56646739224619" /><Relationship Type="http://schemas.openxmlformats.org/officeDocument/2006/relationships/notesMaster" Target="/ppt/notesMasters/notesMaster1.xml" Id="R74eede4938d44c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b3b31164414dfb" /><Relationship Type="http://schemas.openxmlformats.org/officeDocument/2006/relationships/notesMaster" Target="/ppt/notesMasters/notesMaster1.xml" Id="Rbedba4073b4b44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483c83a90a4cf3" /><Relationship Type="http://schemas.openxmlformats.org/officeDocument/2006/relationships/notesMaster" Target="/ppt/notesMasters/notesMaster1.xml" Id="Rc1c86f51e1a640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1f8edb869e49c1" /><Relationship Type="http://schemas.openxmlformats.org/officeDocument/2006/relationships/notesMaster" Target="/ppt/notesMasters/notesMaster1.xml" Id="R18027794ff8a49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ad42f91ba44119" /><Relationship Type="http://schemas.openxmlformats.org/officeDocument/2006/relationships/notesMaster" Target="/ppt/notesMasters/notesMaster1.xml" Id="R97e8f59febfd458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accc88689249ec" /><Relationship Type="http://schemas.openxmlformats.org/officeDocument/2006/relationships/notesMaster" Target="/ppt/notesMasters/notesMaster1.xml" Id="R719939c595984b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e432c763f49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9a379877054b41" /><Relationship Type="http://schemas.openxmlformats.org/officeDocument/2006/relationships/slideLayout" Target="/ppt/slideLayouts/slideLayout1.xml" Id="R72c9d80d702a4e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c9d80d702a4e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c2c802c43414d" /><Relationship Type="http://schemas.openxmlformats.org/officeDocument/2006/relationships/notesSlide" Target="/ppt/notesSlides/notesSlide1.xml" Id="R28572c226e1d4b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4daf6cbca4d9e" /><Relationship Type="http://schemas.openxmlformats.org/officeDocument/2006/relationships/notesSlide" Target="/ppt/notesSlides/notesSlide2.xml" Id="R6a42b6e9b5a747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aa8538e664bc0" /><Relationship Type="http://schemas.openxmlformats.org/officeDocument/2006/relationships/notesSlide" Target="/ppt/notesSlides/notesSlide3.xml" Id="R5c7780a6f05e42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89c5b4dbc4ad3" /><Relationship Type="http://schemas.openxmlformats.org/officeDocument/2006/relationships/notesSlide" Target="/ppt/notesSlides/notesSlide4.xml" Id="R91f34f4e753348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be5f7a9e54b4f" /><Relationship Type="http://schemas.openxmlformats.org/officeDocument/2006/relationships/image" Target="/ppt/media/image.png" Id="Ra3c1f94dd3f74677" /><Relationship Type="http://schemas.openxmlformats.org/officeDocument/2006/relationships/notesSlide" Target="/ppt/notesSlides/notesSlide5.xml" Id="Rd09baa86c91d46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220c709ea43d3" /><Relationship Type="http://schemas.openxmlformats.org/officeDocument/2006/relationships/image" Target="/ppt/media/image.jpeg" Id="R1ba20f3f4f4c46e3" /><Relationship Type="http://schemas.openxmlformats.org/officeDocument/2006/relationships/notesSlide" Target="/ppt/notesSlides/notesSlide6.xml" Id="R54ba988e8b4a44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0dcd4f4834d41" /><Relationship Type="http://schemas.openxmlformats.org/officeDocument/2006/relationships/image" Target="/ppt/media/image2.jpeg" Id="R3143c1b878574199" /><Relationship Type="http://schemas.openxmlformats.org/officeDocument/2006/relationships/notesSlide" Target="/ppt/notesSlides/notesSlide7.xml" Id="R267d35c50e914e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fdad8543c47ff" /><Relationship Type="http://schemas.openxmlformats.org/officeDocument/2006/relationships/image" Target="/ppt/media/image3.jpeg" Id="R726ccffbc76344ea" /><Relationship Type="http://schemas.openxmlformats.org/officeDocument/2006/relationships/notesSlide" Target="/ppt/notesSlides/notesSlide8.xml" Id="R63fc1bcb64b546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ace230e234c9e" /><Relationship Type="http://schemas.openxmlformats.org/officeDocument/2006/relationships/image" Target="/ppt/media/image2.png" Id="R946cf57fcdac44a1" /><Relationship Type="http://schemas.openxmlformats.org/officeDocument/2006/relationships/notesSlide" Target="/ppt/notesSlides/notesSlide9.xml" Id="Rce3ccced8cc743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b24be2e6b4cc0" /><Relationship Type="http://schemas.openxmlformats.org/officeDocument/2006/relationships/image" Target="/ppt/media/image4.jpeg" Id="Rad792e642e994a66" /><Relationship Type="http://schemas.openxmlformats.org/officeDocument/2006/relationships/notesSlide" Target="/ppt/notesSlides/notesSlide10.xml" Id="R0431af59a1af4a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87bdb27a84820" /><Relationship Type="http://schemas.openxmlformats.org/officeDocument/2006/relationships/notesSlide" Target="/ppt/notesSlides/notesSlide11.xml" Id="Re2f710e68e8e44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527ca75c848b5" /><Relationship Type="http://schemas.openxmlformats.org/officeDocument/2006/relationships/notesSlide" Target="/ppt/notesSlides/notesSlide12.xml" Id="Ra550c7e756db49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17f9079a14baa" /><Relationship Type="http://schemas.openxmlformats.org/officeDocument/2006/relationships/notesSlide" Target="/ppt/notesSlides/notesSlide13.xml" Id="R61bdd41766b946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3b37a714248f5" /><Relationship Type="http://schemas.openxmlformats.org/officeDocument/2006/relationships/image" Target="/ppt/media/image5.jpeg" Id="Rd6f42f5017cf4cb7" /><Relationship Type="http://schemas.openxmlformats.org/officeDocument/2006/relationships/notesSlide" Target="/ppt/notesSlides/notesSlide14.xml" Id="Rd6bf54ab92a941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0fcb031ba45a0" /><Relationship Type="http://schemas.openxmlformats.org/officeDocument/2006/relationships/image" Target="/ppt/media/image3.png" Id="Raaae0a0180554184" /><Relationship Type="http://schemas.openxmlformats.org/officeDocument/2006/relationships/notesSlide" Target="/ppt/notesSlides/notesSlide15.xml" Id="Ra90e27a6a5064e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b29789390485b" /><Relationship Type="http://schemas.openxmlformats.org/officeDocument/2006/relationships/notesSlide" Target="/ppt/notesSlides/notesSlide16.xml" Id="R09eb6e5c5d874b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e05da485b44f0" /><Relationship Type="http://schemas.openxmlformats.org/officeDocument/2006/relationships/image" Target="/ppt/media/image6.jpeg" Id="Rcc35ccae4efc4c3c" /><Relationship Type="http://schemas.openxmlformats.org/officeDocument/2006/relationships/notesSlide" Target="/ppt/notesSlides/notesSlide17.xml" Id="Rb8e1c118374f4d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eef25c6ec4e87" /><Relationship Type="http://schemas.openxmlformats.org/officeDocument/2006/relationships/notesSlide" Target="/ppt/notesSlides/notesSlide18.xml" Id="R46fedd6c35bc44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6362da7bb481b" /><Relationship Type="http://schemas.openxmlformats.org/officeDocument/2006/relationships/notesSlide" Target="/ppt/notesSlides/notesSlide19.xml" Id="R9ab1c3a4bdf84b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EE8FC2B-B722-4FA2-B9A5-233349BA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DataPath
让业务用户放心问数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17FA274-A58C-4B23-9598-AA1AE1E4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从业务事实准备、可信执行到持续质量运营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37E9755-E6F5-4F10-A2F8-14B84BCC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PRODUCT · 2026</a:t>
            </a:r>
          </a:p>
        </p:txBody>
      </p:sp>
    </p:spTree>
    <p:extLst>
      <p:ext uri="{BB962C8B-B14F-4D97-AF65-F5344CB8AC3E}">
        <p14:creationId xmlns:p14="http://schemas.microsoft.com/office/powerpoint/2010/main" val="20575322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149C688-65C8-4F54-B7C4-B72B4747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E414C01-1089-4E19-9716-663DB5E0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业务用户只想问问题，系统必须承担正确性成本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132F1F0-08BD-47A3-9EC6-6D0F985A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用户看到的体验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用自然语言提出临时分析问题，获得图表、数据证据，并围绕结果继续追问。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17163C8F-5777-4A5D-996C-EEFC7EA3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产品承担的责任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在回答前确认口径、关系与权限；上线后持续处理结构变化、错误修复和版本回归。</a:t>
            </a:r>
          </a:p>
        </p:txBody>
      </p:sp>
    </p:spTree>
    <p:extLst>
      <p:ext uri="{BB962C8B-B14F-4D97-AF65-F5344CB8AC3E}">
        <p14:creationId xmlns:p14="http://schemas.microsoft.com/office/powerpoint/2010/main" val="3053323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988380E-1E54-4F2F-A108-617438AE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B694B42-2721-46E5-9CA5-6172ED51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因此，一次可信问数需要三类用户协作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CA9519BE-442F-4CAF-BED5-00541449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业务用户
提问与追问
查看图表和证据
采用结果或反馈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599B06C8-0BA6-4D97-9AEB-9ED00BC2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指标管理员
发布指标语义
审核 AI 预热
处理 Bad Case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3703B662-F0C8-4367-ACDC-17745FC1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平台管理员
连接数据仓库
治理关系和权限
处理 Schema 变化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3068B885-4AD2-41A0-B6C9-D2543962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5B6EAA65-B8F2-47F8-9085-D8E5E741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E3E89067-ABF0-4BBE-AB4A-1303DDB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2705564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E9FABC8-30FD-49F3-B84B-F8731E75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0276EC1-9343-4A8D-BB82-AC5092A5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整套产品沿着“准备—问数—运营”持续运行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BA10FDE-B850-422C-8A7D-3019ECD4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准备业务事实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连接数仓、扫描结构、建立业务域、语义模型、共享维度与 Join Graph。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F755C34-B844-4256-A3FF-600D8A92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准备语言理解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定义公式、单位、版本、维度和血缘；AI 生成可审核的语义预热草稿。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CBE601D-D159-4359-9624-AA38E508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完成可信问数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自然语言召回指标，生成 DSL，确定性编译执行，再形成图表和 Evidence。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FEBB588-BBEB-4A90-A855-CD66C8DD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持续运营能力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权限和 Schema 门禁、反馈归因、Golden 回归、版本发布与测评监控。</a:t>
            </a:r>
          </a:p>
        </p:txBody>
      </p:sp>
    </p:spTree>
    <p:extLst>
      <p:ext uri="{BB962C8B-B14F-4D97-AF65-F5344CB8AC3E}">
        <p14:creationId xmlns:p14="http://schemas.microsoft.com/office/powerpoint/2010/main" val="1429611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05">
            <a:extLst xmlns:a="http://schemas.openxmlformats.org/drawingml/2006/main">
              <a:ext uri="{FF2B5EF4-FFF2-40B4-BE49-F238E27FC236}">
                <a16:creationId xmlns:a16="http://schemas.microsoft.com/office/drawing/2014/main" id="{67A27C5A-219F-4329-AEF4-BDE36FEC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第一步不是让 AI 猜表，而是看清已有数据</a:t>
            </a:r>
          </a:p>
        </p:txBody>
      </p:sp>
      <p:sp>
        <p:nvSpPr>
          <p:cNvPr id="2" name="feature-label-05">
            <a:extLst xmlns:a="http://schemas.openxmlformats.org/drawingml/2006/main">
              <a:ext uri="{FF2B5EF4-FFF2-40B4-BE49-F238E27FC236}">
                <a16:creationId xmlns:a16="http://schemas.microsoft.com/office/drawing/2014/main" id="{02EE9E94-07A9-477A-9960-915D22EA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INTERACTION DESIGN</a:t>
            </a:r>
          </a:p>
        </p:txBody>
      </p:sp>
      <p:sp>
        <p:nvSpPr>
          <p:cNvPr id="3" name="feature-statement-05">
            <a:extLst xmlns:a="http://schemas.openxmlformats.org/drawingml/2006/main">
              <a:ext uri="{FF2B5EF4-FFF2-40B4-BE49-F238E27FC236}">
                <a16:creationId xmlns:a16="http://schemas.microsoft.com/office/drawing/2014/main" id="{E6064969-CA0E-4F28-90CB-265E2E39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系统保存只读连接配置，扫描表、字段和类型，但不自动猜测业务含义。</a:t>
            </a:r>
          </a:p>
        </p:txBody>
      </p:sp>
      <p:sp>
        <p:nvSpPr>
          <p:cNvPr id="4" name="feature-detail-05">
            <a:extLst xmlns:a="http://schemas.openxmlformats.org/drawingml/2006/main">
              <a:ext uri="{FF2B5EF4-FFF2-40B4-BE49-F238E27FC236}">
                <a16:creationId xmlns:a16="http://schemas.microsoft.com/office/drawing/2014/main" id="{797571F8-B093-4E95-8ACA-C23FF2F6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 PostgreSQL、ClickHouse 等分析数据源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展示表规模、扫描状态和结构变化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业务解释在独立业务域中确认和发布</a:t>
            </a:r>
          </a:p>
        </p:txBody>
      </p:sp>
      <p:sp>
        <p:nvSpPr>
          <p:cNvPr id="5" name="feature-image-backing-05">
            <a:extLst xmlns:a="http://schemas.openxmlformats.org/drawingml/2006/main">
              <a:ext uri="{FF2B5EF4-FFF2-40B4-BE49-F238E27FC236}">
                <a16:creationId xmlns:a16="http://schemas.microsoft.com/office/drawing/2014/main" id="{BE4EF0F0-3070-4CEB-901C-0D1CAE2A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7324725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1f94dd3f74677"/>
          <a:stretch xmlns:a="http://schemas.openxmlformats.org/drawingml/2006/main"/>
        </p:blipFill>
        <p:spPr>
          <a:xfrm xmlns:a="http://schemas.openxmlformats.org/drawingml/2006/main">
            <a:off x="5200241" y="1447800"/>
            <a:ext cx="5877744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05">
            <a:extLst xmlns:a="http://schemas.openxmlformats.org/drawingml/2006/main">
              <a:ext uri="{FF2B5EF4-FFF2-40B4-BE49-F238E27FC236}">
                <a16:creationId xmlns:a16="http://schemas.microsoft.com/office/drawing/2014/main" id="{B909A657-7827-4487-9632-7371D8A4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7057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06">
            <a:extLst xmlns:a="http://schemas.openxmlformats.org/drawingml/2006/main">
              <a:ext uri="{FF2B5EF4-FFF2-40B4-BE49-F238E27FC236}">
                <a16:creationId xmlns:a16="http://schemas.microsoft.com/office/drawing/2014/main" id="{6799C0D5-E0B1-4130-A261-263D7280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物理数据需要先被组织成业务可以理解的事实</a:t>
            </a:r>
          </a:p>
        </p:txBody>
      </p:sp>
      <p:sp>
        <p:nvSpPr>
          <p:cNvPr id="2" name="feature-label-06">
            <a:extLst xmlns:a="http://schemas.openxmlformats.org/drawingml/2006/main">
              <a:ext uri="{FF2B5EF4-FFF2-40B4-BE49-F238E27FC236}">
                <a16:creationId xmlns:a16="http://schemas.microsoft.com/office/drawing/2014/main" id="{C728E406-522A-4C49-9C0B-9DB12191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DDL ACCEPTANCE</a:t>
            </a:r>
          </a:p>
        </p:txBody>
      </p:sp>
      <p:sp>
        <p:nvSpPr>
          <p:cNvPr id="3" name="feature-statement-06">
            <a:extLst xmlns:a="http://schemas.openxmlformats.org/drawingml/2006/main">
              <a:ext uri="{FF2B5EF4-FFF2-40B4-BE49-F238E27FC236}">
                <a16:creationId xmlns:a16="http://schemas.microsoft.com/office/drawing/2014/main" id="{14395620-608C-42CB-BEE1-3CA1F9FE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同一张物理表可以被不同业务域解释，但每个业务域都有独立的模型、关系和指标版本。</a:t>
            </a:r>
          </a:p>
        </p:txBody>
      </p:sp>
      <p:sp>
        <p:nvSpPr>
          <p:cNvPr id="4" name="feature-detail-06">
            <a:extLst xmlns:a="http://schemas.openxmlformats.org/drawingml/2006/main">
              <a:ext uri="{FF2B5EF4-FFF2-40B4-BE49-F238E27FC236}">
                <a16:creationId xmlns:a16="http://schemas.microsoft.com/office/drawing/2014/main" id="{50E6FF73-A937-4940-817E-2B350636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确认事实表、维度表、粒度和业务唯一键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维护共享维度、开放字段和负责人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模型、关系或指标异常时业务域显示降级</a:t>
            </a:r>
          </a:p>
        </p:txBody>
      </p:sp>
      <p:sp>
        <p:nvSpPr>
          <p:cNvPr id="5" name="feature-image-backing-06">
            <a:extLst xmlns:a="http://schemas.openxmlformats.org/drawingml/2006/main">
              <a:ext uri="{FF2B5EF4-FFF2-40B4-BE49-F238E27FC236}">
                <a16:creationId xmlns:a16="http://schemas.microsoft.com/office/drawing/2014/main" id="{691DEB09-CB9E-41C1-B033-E463D131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733425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20f3f4f4c46e3"/>
          <a:stretch xmlns:a="http://schemas.openxmlformats.org/drawingml/2006/main"/>
        </p:blipFill>
        <p:spPr>
          <a:xfrm xmlns:a="http://schemas.openxmlformats.org/drawingml/2006/main">
            <a:off x="2237147" y="1447800"/>
            <a:ext cx="3641007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06">
            <a:extLst xmlns:a="http://schemas.openxmlformats.org/drawingml/2006/main">
              <a:ext uri="{FF2B5EF4-FFF2-40B4-BE49-F238E27FC236}">
                <a16:creationId xmlns:a16="http://schemas.microsoft.com/office/drawing/2014/main" id="{0D20EFF2-9EBD-4FE2-833C-74E11961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18788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07">
            <a:extLst xmlns:a="http://schemas.openxmlformats.org/drawingml/2006/main">
              <a:ext uri="{FF2B5EF4-FFF2-40B4-BE49-F238E27FC236}">
                <a16:creationId xmlns:a16="http://schemas.microsoft.com/office/drawing/2014/main" id="{D0D97C34-43FD-4DCA-AE10-E0C4273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指标中心为每个业务问题提供唯一、可追溯的口径</a:t>
            </a:r>
          </a:p>
        </p:txBody>
      </p:sp>
      <p:sp>
        <p:nvSpPr>
          <p:cNvPr id="2" name="feature-label-07">
            <a:extLst xmlns:a="http://schemas.openxmlformats.org/drawingml/2006/main">
              <a:ext uri="{FF2B5EF4-FFF2-40B4-BE49-F238E27FC236}">
                <a16:creationId xmlns:a16="http://schemas.microsoft.com/office/drawing/2014/main" id="{24C04D35-B189-485B-BB06-2A7529E6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RUNNING PRODUCT</a:t>
            </a:r>
          </a:p>
        </p:txBody>
      </p:sp>
      <p:sp>
        <p:nvSpPr>
          <p:cNvPr id="3" name="feature-statement-07">
            <a:extLst xmlns:a="http://schemas.openxmlformats.org/drawingml/2006/main">
              <a:ext uri="{FF2B5EF4-FFF2-40B4-BE49-F238E27FC236}">
                <a16:creationId xmlns:a16="http://schemas.microsoft.com/office/drawing/2014/main" id="{2F02AECA-AEF6-486D-A84F-60D3547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只有经过确认和发布的指标，才能进入在线召回和查询执行。</a:t>
            </a:r>
          </a:p>
        </p:txBody>
      </p:sp>
      <p:sp>
        <p:nvSpPr>
          <p:cNvPr id="4" name="feature-detail-07">
            <a:extLst xmlns:a="http://schemas.openxmlformats.org/drawingml/2006/main">
              <a:ext uri="{FF2B5EF4-FFF2-40B4-BE49-F238E27FC236}">
                <a16:creationId xmlns:a16="http://schemas.microsoft.com/office/drawing/2014/main" id="{7D3197D6-C418-4885-861D-5660E976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维护名称、定义、公式、单位和可用维度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展示语义模型、物理表与指标血缘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后续修改创建递增版本，不覆盖历史口径</a:t>
            </a:r>
          </a:p>
        </p:txBody>
      </p:sp>
      <p:sp>
        <p:nvSpPr>
          <p:cNvPr id="5" name="feature-image-backing-07">
            <a:extLst xmlns:a="http://schemas.openxmlformats.org/drawingml/2006/main">
              <a:ext uri="{FF2B5EF4-FFF2-40B4-BE49-F238E27FC236}">
                <a16:creationId xmlns:a16="http://schemas.microsoft.com/office/drawing/2014/main" id="{72948464-9BCD-45AB-B979-72E66AD7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7324725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3c1b878574199"/>
          <a:stretch xmlns:a="http://schemas.openxmlformats.org/drawingml/2006/main"/>
        </p:blipFill>
        <p:spPr>
          <a:xfrm xmlns:a="http://schemas.openxmlformats.org/drawingml/2006/main">
            <a:off x="4651328" y="1447800"/>
            <a:ext cx="6975568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07">
            <a:extLst xmlns:a="http://schemas.openxmlformats.org/drawingml/2006/main">
              <a:ext uri="{FF2B5EF4-FFF2-40B4-BE49-F238E27FC236}">
                <a16:creationId xmlns:a16="http://schemas.microsoft.com/office/drawing/2014/main" id="{B64070FB-E0B7-4620-90CA-CB9B4F59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8413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08">
            <a:extLst xmlns:a="http://schemas.openxmlformats.org/drawingml/2006/main">
              <a:ext uri="{FF2B5EF4-FFF2-40B4-BE49-F238E27FC236}">
                <a16:creationId xmlns:a16="http://schemas.microsoft.com/office/drawing/2014/main" id="{B7F3EF4D-7045-45A1-99AA-6085C5E4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口径确定后，AI 预热补齐企业用户的表达方式</a:t>
            </a:r>
          </a:p>
        </p:txBody>
      </p:sp>
      <p:sp>
        <p:nvSpPr>
          <p:cNvPr id="2" name="feature-label-08">
            <a:extLst xmlns:a="http://schemas.openxmlformats.org/drawingml/2006/main">
              <a:ext uri="{FF2B5EF4-FFF2-40B4-BE49-F238E27FC236}">
                <a16:creationId xmlns:a16="http://schemas.microsoft.com/office/drawing/2014/main" id="{327DAC22-52D5-4445-86D9-B099970B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RUNNING PRODUCT</a:t>
            </a:r>
          </a:p>
        </p:txBody>
      </p:sp>
      <p:sp>
        <p:nvSpPr>
          <p:cNvPr id="3" name="feature-statement-08">
            <a:extLst xmlns:a="http://schemas.openxmlformats.org/drawingml/2006/main">
              <a:ext uri="{FF2B5EF4-FFF2-40B4-BE49-F238E27FC236}">
                <a16:creationId xmlns:a16="http://schemas.microsoft.com/office/drawing/2014/main" id="{03F1697F-EF44-4447-B17E-6A537488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只扩展企业语言表达，不修改工作人员确认的公式、血缘、权限和发布状态。</a:t>
            </a:r>
          </a:p>
        </p:txBody>
      </p:sp>
      <p:sp>
        <p:nvSpPr>
          <p:cNvPr id="4" name="feature-detail-08">
            <a:extLst xmlns:a="http://schemas.openxmlformats.org/drawingml/2006/main">
              <a:ext uri="{FF2B5EF4-FFF2-40B4-BE49-F238E27FC236}">
                <a16:creationId xmlns:a16="http://schemas.microsoft.com/office/drawing/2014/main" id="{DD801D31-41FD-4552-BAFB-A4393AC3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生成别名、典型问法与相似指标反例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计算语义完整度并提示缺失资产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人工审阅后应用，再建立混合召回索引</a:t>
            </a:r>
          </a:p>
        </p:txBody>
      </p:sp>
      <p:sp>
        <p:nvSpPr>
          <p:cNvPr id="5" name="feature-image-backing-08">
            <a:extLst xmlns:a="http://schemas.openxmlformats.org/drawingml/2006/main">
              <a:ext uri="{FF2B5EF4-FFF2-40B4-BE49-F238E27FC236}">
                <a16:creationId xmlns:a16="http://schemas.microsoft.com/office/drawing/2014/main" id="{19DBFAB1-E25D-4020-952C-7FD11869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733425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ccffbc76344ea"/>
          <a:stretch xmlns:a="http://schemas.openxmlformats.org/drawingml/2006/main"/>
        </p:blipFill>
        <p:spPr>
          <a:xfrm xmlns:a="http://schemas.openxmlformats.org/drawingml/2006/main">
            <a:off x="546185" y="1447800"/>
            <a:ext cx="7022931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08">
            <a:extLst xmlns:a="http://schemas.openxmlformats.org/drawingml/2006/main">
              <a:ext uri="{FF2B5EF4-FFF2-40B4-BE49-F238E27FC236}">
                <a16:creationId xmlns:a16="http://schemas.microsoft.com/office/drawing/2014/main" id="{F85AFA73-8393-4BBB-8690-2153E905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21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09">
            <a:extLst xmlns:a="http://schemas.openxmlformats.org/drawingml/2006/main">
              <a:ext uri="{FF2B5EF4-FFF2-40B4-BE49-F238E27FC236}">
                <a16:creationId xmlns:a16="http://schemas.microsoft.com/office/drawing/2014/main" id="{C589BC54-2A06-4DEB-86B9-0A8EF69A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多表分析能否可信，取决于关系是否提前治理</a:t>
            </a:r>
          </a:p>
        </p:txBody>
      </p:sp>
      <p:sp>
        <p:nvSpPr>
          <p:cNvPr id="2" name="feature-label-09">
            <a:extLst xmlns:a="http://schemas.openxmlformats.org/drawingml/2006/main">
              <a:ext uri="{FF2B5EF4-FFF2-40B4-BE49-F238E27FC236}">
                <a16:creationId xmlns:a16="http://schemas.microsoft.com/office/drawing/2014/main" id="{E0652F24-0DB5-438E-886E-4D246D64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INTERACTION DESIGN</a:t>
            </a:r>
          </a:p>
        </p:txBody>
      </p:sp>
      <p:sp>
        <p:nvSpPr>
          <p:cNvPr id="3" name="feature-statement-09">
            <a:extLst xmlns:a="http://schemas.openxmlformats.org/drawingml/2006/main">
              <a:ext uri="{FF2B5EF4-FFF2-40B4-BE49-F238E27FC236}">
                <a16:creationId xmlns:a16="http://schemas.microsoft.com/office/drawing/2014/main" id="{A8781D63-4C5F-47D2-99A1-BFB60CF8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字段同名或数据库存在外键，不代表业务关联一定安全。</a:t>
            </a:r>
          </a:p>
        </p:txBody>
      </p:sp>
      <p:sp>
        <p:nvSpPr>
          <p:cNvPr id="4" name="feature-detail-09">
            <a:extLst xmlns:a="http://schemas.openxmlformats.org/drawingml/2006/main">
              <a:ext uri="{FF2B5EF4-FFF2-40B4-BE49-F238E27FC236}">
                <a16:creationId xmlns:a16="http://schemas.microsoft.com/office/drawing/2014/main" id="{9C63F7A2-453A-49B4-BBC3-BE1FF59C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记录关联键、基数、Join 类型和验证状态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多对多关系默认阻断，避免结果被放大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跨事实指标强制先聚合再关联</a:t>
            </a:r>
          </a:p>
        </p:txBody>
      </p:sp>
      <p:sp>
        <p:nvSpPr>
          <p:cNvPr id="5" name="feature-image-backing-09">
            <a:extLst xmlns:a="http://schemas.openxmlformats.org/drawingml/2006/main">
              <a:ext uri="{FF2B5EF4-FFF2-40B4-BE49-F238E27FC236}">
                <a16:creationId xmlns:a16="http://schemas.microsoft.com/office/drawing/2014/main" id="{18760BBB-0E16-486A-B9EB-A1F77BBA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7324725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cf57fcdac44a1"/>
          <a:stretch xmlns:a="http://schemas.openxmlformats.org/drawingml/2006/main"/>
        </p:blipFill>
        <p:spPr>
          <a:xfrm xmlns:a="http://schemas.openxmlformats.org/drawingml/2006/main">
            <a:off x="5200241" y="1447800"/>
            <a:ext cx="5877744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09">
            <a:extLst xmlns:a="http://schemas.openxmlformats.org/drawingml/2006/main">
              <a:ext uri="{FF2B5EF4-FFF2-40B4-BE49-F238E27FC236}">
                <a16:creationId xmlns:a16="http://schemas.microsoft.com/office/drawing/2014/main" id="{B4B07CDD-C4C9-42EF-820C-66D83E0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071297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10">
            <a:extLst xmlns:a="http://schemas.openxmlformats.org/drawingml/2006/main">
              <a:ext uri="{FF2B5EF4-FFF2-40B4-BE49-F238E27FC236}">
                <a16:creationId xmlns:a16="http://schemas.microsoft.com/office/drawing/2014/main" id="{1C54C88D-32D0-41F2-BC24-18A3D93A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准备工作完成后，业务用户只需要描述问题</a:t>
            </a:r>
          </a:p>
        </p:txBody>
      </p:sp>
      <p:sp>
        <p:nvSpPr>
          <p:cNvPr id="2" name="feature-label-10">
            <a:extLst xmlns:a="http://schemas.openxmlformats.org/drawingml/2006/main">
              <a:ext uri="{FF2B5EF4-FFF2-40B4-BE49-F238E27FC236}">
                <a16:creationId xmlns:a16="http://schemas.microsoft.com/office/drawing/2014/main" id="{6A8EC084-F406-46CD-8A30-D429C3C1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RUNNING PRODUCT</a:t>
            </a:r>
          </a:p>
        </p:txBody>
      </p:sp>
      <p:sp>
        <p:nvSpPr>
          <p:cNvPr id="3" name="feature-statement-10">
            <a:extLst xmlns:a="http://schemas.openxmlformats.org/drawingml/2006/main">
              <a:ext uri="{FF2B5EF4-FFF2-40B4-BE49-F238E27FC236}">
                <a16:creationId xmlns:a16="http://schemas.microsoft.com/office/drawing/2014/main" id="{8E3B430E-B8F8-4D31-90E9-1712F354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业务用户不需要知道表名和字段名，只需要描述指标、时间、维度和筛选条件。</a:t>
            </a:r>
          </a:p>
        </p:txBody>
      </p:sp>
      <p:sp>
        <p:nvSpPr>
          <p:cNvPr id="4" name="feature-detail-10">
            <a:extLst xmlns:a="http://schemas.openxmlformats.org/drawingml/2006/main">
              <a:ext uri="{FF2B5EF4-FFF2-40B4-BE49-F238E27FC236}">
                <a16:creationId xmlns:a16="http://schemas.microsoft.com/office/drawing/2014/main" id="{2B40925A-EB5F-4DEE-8278-5EC3D064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支持业务域与演示数据角色切换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继承已确认的指标、时间和筛选条件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展示本轮执行链路与结果状态</a:t>
            </a:r>
          </a:p>
        </p:txBody>
      </p:sp>
      <p:sp>
        <p:nvSpPr>
          <p:cNvPr id="5" name="feature-image-backing-10">
            <a:extLst xmlns:a="http://schemas.openxmlformats.org/drawingml/2006/main">
              <a:ext uri="{FF2B5EF4-FFF2-40B4-BE49-F238E27FC236}">
                <a16:creationId xmlns:a16="http://schemas.microsoft.com/office/drawing/2014/main" id="{8A84AB18-C2AF-417E-8F13-647F4EF1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733425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92e642e994a66"/>
          <a:stretch xmlns:a="http://schemas.openxmlformats.org/drawingml/2006/main"/>
        </p:blipFill>
        <p:spPr>
          <a:xfrm xmlns:a="http://schemas.openxmlformats.org/drawingml/2006/main">
            <a:off x="1362896" y="1447800"/>
            <a:ext cx="5389507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10">
            <a:extLst xmlns:a="http://schemas.openxmlformats.org/drawingml/2006/main">
              <a:ext uri="{FF2B5EF4-FFF2-40B4-BE49-F238E27FC236}">
                <a16:creationId xmlns:a16="http://schemas.microsoft.com/office/drawing/2014/main" id="{3E2B92AC-4EBD-4706-A680-2EAA51A1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68251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F16D5DF-F576-4A78-8E1E-E2B55F8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AF0D953-CF67-4C1D-8ADD-F3FE04BD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用户的一句话，会经过三段可检查的处理链路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41C8255-CED5-45E2-98D7-9C56D96B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5676C8-67F3-4D5C-B527-8F026574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7C834D2-D6F6-40EE-A8FB-B3C87025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D8E34F3-CCAA-4143-80E9-06EDCA89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理解问题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5192780-6B39-4C67-BAE3-5CC16581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安全执行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C2FF28B-6155-420D-9275-94446DF5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生成回答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18F3A10-C933-45A4-B12C-89379BA1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验证并编译 DSL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后端检查版本、维度、权限、Schema、Join 和成本，再确定性编译为只读 SQL。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1411CBF-DB10-4A79-96B0-DFB6B1ED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检索并裁决指标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完整名称、别名、BM25、正反例和向量混合召回；模型从有限候选中选择或澄清。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A22DF8E-FB03-4660-85FA-252F7E0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约束解释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查询结果形成结构化证据；Reflection 检查业务解读是否得到数据支持。</a:t>
            </a:r>
          </a:p>
        </p:txBody>
      </p:sp>
    </p:spTree>
    <p:extLst>
      <p:ext uri="{BB962C8B-B14F-4D97-AF65-F5344CB8AC3E}">
        <p14:creationId xmlns:p14="http://schemas.microsoft.com/office/powerpoint/2010/main" val="8154474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F8661ED-5FCE-4264-B135-EFF1B6F5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2AF9EF4-678A-4AFA-923A-0385743E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证据不足时，产品不会为了回答率强行给出数字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C0742B0-530C-4C8F-86E3-DE3C2CB9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可以继续使用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SUCCESS：完整门禁通过并返回结果。
CLARIFY：存在合理歧义或缺少必要条件。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60AB5DEB-D9B4-4637-ACBA-50447280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不能进入执行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REJECT：问题超出当前业务域或产品能力。
BLOCKED：权限、Schema、安全或资产状态不允许执行。</a:t>
            </a:r>
          </a:p>
        </p:txBody>
      </p:sp>
    </p:spTree>
    <p:extLst>
      <p:ext uri="{BB962C8B-B14F-4D97-AF65-F5344CB8AC3E}">
        <p14:creationId xmlns:p14="http://schemas.microsoft.com/office/powerpoint/2010/main" val="11870511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135306D-22B1-4ADF-B514-E75624E7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86AB919-4077-4CE1-BC24-EB722C55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每次执行都重新经过权限与安全门禁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C2F4A1C-38A1-41F6-AF9F-C719CB4D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角色与业务域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每轮重新加载身份、租户、业务域和数据范围，不从对话历史继承权限。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72A3C99-9C97-414D-84D4-65AB8AD4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发布状态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草稿、失效或受影响的指标、模型和关系不能进入查询执行。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ACD6B92-D1B2-4C2D-929F-694DBF45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查询约束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限制字段、过滤、排序、行数、扫描成本，并禁止 DDL、DML 和自由 SQL。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C47BB85-12E0-4DA8-86E2-17AEAF86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执行令牌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版本、权限和 DSL 形成签名令牌，篡改或过期请求会被拒绝。</a:t>
            </a:r>
          </a:p>
        </p:txBody>
      </p:sp>
    </p:spTree>
    <p:extLst>
      <p:ext uri="{BB962C8B-B14F-4D97-AF65-F5344CB8AC3E}">
        <p14:creationId xmlns:p14="http://schemas.microsoft.com/office/powerpoint/2010/main" val="18399222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14">
            <a:extLst xmlns:a="http://schemas.openxmlformats.org/drawingml/2006/main">
              <a:ext uri="{FF2B5EF4-FFF2-40B4-BE49-F238E27FC236}">
                <a16:creationId xmlns:a16="http://schemas.microsoft.com/office/drawing/2014/main" id="{253D36F1-F933-4186-8292-B23760B5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真实环境发生变化时，过期能力会自动停止服务</a:t>
            </a:r>
          </a:p>
        </p:txBody>
      </p:sp>
      <p:sp>
        <p:nvSpPr>
          <p:cNvPr id="2" name="feature-label-14">
            <a:extLst xmlns:a="http://schemas.openxmlformats.org/drawingml/2006/main">
              <a:ext uri="{FF2B5EF4-FFF2-40B4-BE49-F238E27FC236}">
                <a16:creationId xmlns:a16="http://schemas.microsoft.com/office/drawing/2014/main" id="{D8D4753D-C5B3-4E3B-822E-842D5DB2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DDL ACCEPTANCE</a:t>
            </a:r>
          </a:p>
        </p:txBody>
      </p:sp>
      <p:sp>
        <p:nvSpPr>
          <p:cNvPr id="3" name="feature-statement-14">
            <a:extLst xmlns:a="http://schemas.openxmlformats.org/drawingml/2006/main">
              <a:ext uri="{FF2B5EF4-FFF2-40B4-BE49-F238E27FC236}">
                <a16:creationId xmlns:a16="http://schemas.microsoft.com/office/drawing/2014/main" id="{B78370AA-A791-4972-A753-1D1BFAA9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字段删除、类型变化或表缺失发生后，系统不会继续使用过期语义资产。</a:t>
            </a:r>
          </a:p>
        </p:txBody>
      </p:sp>
      <p:sp>
        <p:nvSpPr>
          <p:cNvPr id="4" name="feature-detail-14">
            <a:extLst xmlns:a="http://schemas.openxmlformats.org/drawingml/2006/main">
              <a:ext uri="{FF2B5EF4-FFF2-40B4-BE49-F238E27FC236}">
                <a16:creationId xmlns:a16="http://schemas.microsoft.com/office/drawing/2014/main" id="{DE2DB3A0-B42F-4D99-B5E7-A9F23760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扫描识别结构变化并生成影响事件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传播到业务域、模型、关系和指标状态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人工修复并重新发布后才能恢复能力</a:t>
            </a:r>
          </a:p>
        </p:txBody>
      </p:sp>
      <p:sp>
        <p:nvSpPr>
          <p:cNvPr id="5" name="feature-image-backing-14">
            <a:extLst xmlns:a="http://schemas.openxmlformats.org/drawingml/2006/main">
              <a:ext uri="{FF2B5EF4-FFF2-40B4-BE49-F238E27FC236}">
                <a16:creationId xmlns:a16="http://schemas.microsoft.com/office/drawing/2014/main" id="{D8F98BF2-51EE-4A17-BB1C-28E3180D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7324725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42f5017cf4cb7"/>
          <a:stretch xmlns:a="http://schemas.openxmlformats.org/drawingml/2006/main"/>
        </p:blipFill>
        <p:spPr>
          <a:xfrm xmlns:a="http://schemas.openxmlformats.org/drawingml/2006/main">
            <a:off x="6228027" y="1447800"/>
            <a:ext cx="3822171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14">
            <a:extLst xmlns:a="http://schemas.openxmlformats.org/drawingml/2006/main">
              <a:ext uri="{FF2B5EF4-FFF2-40B4-BE49-F238E27FC236}">
                <a16:creationId xmlns:a16="http://schemas.microsoft.com/office/drawing/2014/main" id="{ED4D1F31-FF01-42A0-A8AF-C31C4D24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582788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15">
            <a:extLst xmlns:a="http://schemas.openxmlformats.org/drawingml/2006/main">
              <a:ext uri="{FF2B5EF4-FFF2-40B4-BE49-F238E27FC236}">
                <a16:creationId xmlns:a16="http://schemas.microsoft.com/office/drawing/2014/main" id="{AB45F736-C822-42EA-85E2-3F700C42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发现错误后，反馈必须进入可以执行的修复流程</a:t>
            </a:r>
          </a:p>
        </p:txBody>
      </p:sp>
      <p:sp>
        <p:nvSpPr>
          <p:cNvPr id="2" name="feature-label-15">
            <a:extLst xmlns:a="http://schemas.openxmlformats.org/drawingml/2006/main">
              <a:ext uri="{FF2B5EF4-FFF2-40B4-BE49-F238E27FC236}">
                <a16:creationId xmlns:a16="http://schemas.microsoft.com/office/drawing/2014/main" id="{DE79EC65-84E7-4D3B-9852-1C62D58F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INTERACTION DESIGN</a:t>
            </a:r>
          </a:p>
        </p:txBody>
      </p:sp>
      <p:sp>
        <p:nvSpPr>
          <p:cNvPr id="3" name="feature-statement-15">
            <a:extLst xmlns:a="http://schemas.openxmlformats.org/drawingml/2006/main">
              <a:ext uri="{FF2B5EF4-FFF2-40B4-BE49-F238E27FC236}">
                <a16:creationId xmlns:a16="http://schemas.microsoft.com/office/drawing/2014/main" id="{550205AF-0885-4636-8B38-9AFCBDB1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用户反馈会自动关联原问题的指标版本、DSL、血缘、成本和结果摘要。</a:t>
            </a:r>
          </a:p>
        </p:txBody>
      </p:sp>
      <p:sp>
        <p:nvSpPr>
          <p:cNvPr id="4" name="feature-detail-15">
            <a:extLst xmlns:a="http://schemas.openxmlformats.org/drawingml/2006/main">
              <a:ext uri="{FF2B5EF4-FFF2-40B4-BE49-F238E27FC236}">
                <a16:creationId xmlns:a16="http://schemas.microsoft.com/office/drawing/2014/main" id="{D559C382-9883-4BF9-9949-1FE2966C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工作人员确认是否构成 Bad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语义问题在线修改；结构问题路由到治理模块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完整处理过程保留状态和审计记录</a:t>
            </a:r>
          </a:p>
        </p:txBody>
      </p:sp>
      <p:sp>
        <p:nvSpPr>
          <p:cNvPr id="5" name="feature-image-backing-15">
            <a:extLst xmlns:a="http://schemas.openxmlformats.org/drawingml/2006/main">
              <a:ext uri="{FF2B5EF4-FFF2-40B4-BE49-F238E27FC236}">
                <a16:creationId xmlns:a16="http://schemas.microsoft.com/office/drawing/2014/main" id="{78ADBC04-BE5A-4CD6-AEFA-BF4BD882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733425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e0a0180554184"/>
          <a:stretch xmlns:a="http://schemas.openxmlformats.org/drawingml/2006/main"/>
        </p:blipFill>
        <p:spPr>
          <a:xfrm xmlns:a="http://schemas.openxmlformats.org/drawingml/2006/main">
            <a:off x="1118778" y="1447800"/>
            <a:ext cx="5877744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15">
            <a:extLst xmlns:a="http://schemas.openxmlformats.org/drawingml/2006/main">
              <a:ext uri="{FF2B5EF4-FFF2-40B4-BE49-F238E27FC236}">
                <a16:creationId xmlns:a16="http://schemas.microsoft.com/office/drawing/2014/main" id="{A5A10A7D-70F8-42C7-A882-74E1CDEB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505481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405312E-80FA-4A5F-8F4B-F660E370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AFC3478-F611-4697-B3C0-70C7D62B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修好当前问题还不够，还要证明没有破坏已有能力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C97522C-E18E-4650-B3F2-120F0499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C2AB920-8A45-45D7-B8E2-AD620BB4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D978CF5-3217-476B-89ED-11965AF1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3DF23CD-1D71-4CF2-8987-8E1458DA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确认正确答案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0D73FA9-46D2-4B85-9759-EC2547A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验证修复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B82DEB9-4B4B-447F-B50B-DC46D32A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发布新版本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0F64F24-7360-43B5-AD9B-452175C1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回归受影响用例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同时验证当前 Bad Case、同指标 Active Golden 和语义冲突指标关联用例。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0308122-CA27-43A9-8E47-B27FC6C0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建立人工契约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工作人员确认正确终态、指标、查询形态和结果；原系统输出不能自动成为 Golden。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BAF7800-8B0C-4E11-80FD-58C3254D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门禁决定发布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任一回归失败都不能发布；通过后生成不可变指标新版本并绑定修复记录。</a:t>
            </a:r>
          </a:p>
        </p:txBody>
      </p:sp>
    </p:spTree>
    <p:extLst>
      <p:ext uri="{BB962C8B-B14F-4D97-AF65-F5344CB8AC3E}">
        <p14:creationId xmlns:p14="http://schemas.microsoft.com/office/powerpoint/2010/main" val="6984200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17">
            <a:extLst xmlns:a="http://schemas.openxmlformats.org/drawingml/2006/main">
              <a:ext uri="{FF2B5EF4-FFF2-40B4-BE49-F238E27FC236}">
                <a16:creationId xmlns:a16="http://schemas.microsoft.com/office/drawing/2014/main" id="{E1B69784-8334-4CCD-A553-B2EA2729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所有能力最终都回到同一套测评与发布门禁</a:t>
            </a:r>
          </a:p>
        </p:txBody>
      </p:sp>
      <p:sp>
        <p:nvSpPr>
          <p:cNvPr id="2" name="feature-label-17">
            <a:extLst xmlns:a="http://schemas.openxmlformats.org/drawingml/2006/main">
              <a:ext uri="{FF2B5EF4-FFF2-40B4-BE49-F238E27FC236}">
                <a16:creationId xmlns:a16="http://schemas.microsoft.com/office/drawing/2014/main" id="{95529A7E-657E-4A3E-9DC1-F3B9D8CC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RUNNING PRODUCT</a:t>
            </a:r>
          </a:p>
        </p:txBody>
      </p:sp>
      <p:sp>
        <p:nvSpPr>
          <p:cNvPr id="3" name="feature-statement-17">
            <a:extLst xmlns:a="http://schemas.openxmlformats.org/drawingml/2006/main">
              <a:ext uri="{FF2B5EF4-FFF2-40B4-BE49-F238E27FC236}">
                <a16:creationId xmlns:a16="http://schemas.microsoft.com/office/drawing/2014/main" id="{C057E356-2CA2-4A9C-A142-1FA93F43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评测不以 HTTP 成功或 SQL 可执行为正确，而是同时检查语义、DSL、Oracle 结果和安全状态。</a:t>
            </a:r>
          </a:p>
        </p:txBody>
      </p:sp>
      <p:sp>
        <p:nvSpPr>
          <p:cNvPr id="4" name="feature-detail-17">
            <a:extLst xmlns:a="http://schemas.openxmlformats.org/drawingml/2006/main">
              <a:ext uri="{FF2B5EF4-FFF2-40B4-BE49-F238E27FC236}">
                <a16:creationId xmlns:a16="http://schemas.microsoft.com/office/drawing/2014/main" id="{0A187638-8050-4EDE-BF4C-7202F31A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按核心指标、跨事实、权限、Schema 等分类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危险执行和错误指标选择必须为零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逐条证据冻结并支持问题定位</a:t>
            </a:r>
          </a:p>
        </p:txBody>
      </p:sp>
      <p:sp>
        <p:nvSpPr>
          <p:cNvPr id="5" name="feature-image-backing-17">
            <a:extLst xmlns:a="http://schemas.openxmlformats.org/drawingml/2006/main">
              <a:ext uri="{FF2B5EF4-FFF2-40B4-BE49-F238E27FC236}">
                <a16:creationId xmlns:a16="http://schemas.microsoft.com/office/drawing/2014/main" id="{1D6DAEFF-EE7C-429E-99EC-0A1D3FA9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7324725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5ccae4efc4c3c"/>
          <a:stretch xmlns:a="http://schemas.openxmlformats.org/drawingml/2006/main"/>
        </p:blipFill>
        <p:spPr>
          <a:xfrm xmlns:a="http://schemas.openxmlformats.org/drawingml/2006/main">
            <a:off x="5205226" y="1447800"/>
            <a:ext cx="5867773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17">
            <a:extLst xmlns:a="http://schemas.openxmlformats.org/drawingml/2006/main">
              <a:ext uri="{FF2B5EF4-FFF2-40B4-BE49-F238E27FC236}">
                <a16:creationId xmlns:a16="http://schemas.microsoft.com/office/drawing/2014/main" id="{0AA47014-EC7E-499C-8489-7102AD9A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0310506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F8918FC6-2CCB-477A-8A56-57D8852A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7D1A4A2-F5A7-4DCC-BC48-92713284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E7980D6-1C61-4EA1-AF75-71A5C478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BD07796-000D-4C7F-B30D-CBAC300D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488F422-5486-422E-9B32-5B8F9062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结果证明这条产品链路已经能够完整运行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F9B59D8-75AF-4BC7-BBF8-0EA30B08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Development
严格通过率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E65A0FA-B524-4922-B7A4-028EFED5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76001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Development、Regression
与 Locked 用例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CECFCEC-C4A4-4190-AA8B-3971FFC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危险执行与
错误指标选择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DCD55120-F7ED-40C4-A792-9764D87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99.11%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109749D-59F6-4492-904B-DD205EED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E314C47-6487-4F52-BA11-529D14F0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2,350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D042155D-45B1-429C-BD88-9EB4B69C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现有资产覆盖 42 张表、442 个字段和约 792.5 万行模拟生产数据；Development 测评覆盖完整产品链路。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2461131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9898FD8-FA07-4460-ADE7-A0E1D1D8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D753674-B2BD-4832-8945-AF307E6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DataPath 的特点不是功能更多，而是把问数做成可运营产品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1A0CD45-7496-4012-9640-6AED3172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提供语言能力；确定性系统守住业务事实、权限、执行和发布边界。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D2F7615-7A3C-48D7-BEE2-0854BA68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功能覆盖完整产品链路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1C76C0F6-C9EE-4F62-908C-B4B48D3C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B79F6B54-AAC2-4C44-B728-E368014F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完整功能覆盖上线前的事实准备、在线问数，以及上线后的结构变化和错误修复。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AI 预热降低冷启动成本；Bad Case 与 Golden 让真实错误持续沉淀为能力。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37ACB4A-F136-4FA1-861F-A7081536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高风险执行失败关闭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7409A940-C284-424B-8815-849FA1E7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5665B10-6A64-4B2D-BA96-BDADF50D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所有答案都有证据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9437D516-B2A0-46F8-9023-5749FCCF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D1F9FA3B-C2F9-45E0-BF23-13A55BF8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真实变化能够被接住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55A055DE-8336-4F83-B4C8-DFBA0C18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EFAD851D-0EB4-4AD9-9F03-83F1CD0D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使用过程持续积累能力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3EBBB891-0C76-4214-91AC-63AC2B4C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774204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2026-07-28T03:17:48.5110000Z</dcterms:created>
  <dcterms:modified xsi:type="dcterms:W3CDTF">2026-07-28T03:17:48.5110000Z</dcterms:modified>
</coreProperties>
</file>