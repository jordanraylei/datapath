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8534b0b12b4e68" /><Relationship Type="http://schemas.openxmlformats.org/officeDocument/2006/relationships/extended-properties" Target="/docProps/app.xml" Id="Rfc9bacfcff464bcb" /><Relationship Type="http://schemas.openxmlformats.org/officeDocument/2006/relationships/officeDocument" Target="/ppt/presentation.xml" Id="R01ebb7753fd846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cb0e4c2451428a"/>
  </p:sldMasterIdLst>
  <p:notesMasterIdLst>
    <p:notesMasterId xmlns:r="http://schemas.openxmlformats.org/officeDocument/2006/relationships" r:id="R3616262aec10436a"/>
  </p:notesMasterIdLst>
  <p:sldIdLst>
    <p:sldId xmlns:r="http://schemas.openxmlformats.org/officeDocument/2006/relationships" id="256" r:id="Rb0ee65996ef546c7"/>
    <p:sldId xmlns:r="http://schemas.openxmlformats.org/officeDocument/2006/relationships" id="257" r:id="Rbb61fdac88d34f4e"/>
    <p:sldId xmlns:r="http://schemas.openxmlformats.org/officeDocument/2006/relationships" id="258" r:id="Rf88e0b57ea4d44bd"/>
    <p:sldId xmlns:r="http://schemas.openxmlformats.org/officeDocument/2006/relationships" id="259" r:id="Ra10b531e381b4f2c"/>
    <p:sldId xmlns:r="http://schemas.openxmlformats.org/officeDocument/2006/relationships" id="260" r:id="R216b33c039b94f6c"/>
    <p:sldId xmlns:r="http://schemas.openxmlformats.org/officeDocument/2006/relationships" id="261" r:id="R195fddce4d4647db"/>
    <p:sldId xmlns:r="http://schemas.openxmlformats.org/officeDocument/2006/relationships" id="262" r:id="Rf760d0d1093b4f42"/>
    <p:sldId xmlns:r="http://schemas.openxmlformats.org/officeDocument/2006/relationships" id="263" r:id="R470519dfba284a43"/>
    <p:sldId xmlns:r="http://schemas.openxmlformats.org/officeDocument/2006/relationships" id="264" r:id="R926c71dd9d3d4ca8"/>
    <p:sldId xmlns:r="http://schemas.openxmlformats.org/officeDocument/2006/relationships" id="265" r:id="R5098f1e4d8674107"/>
    <p:sldId xmlns:r="http://schemas.openxmlformats.org/officeDocument/2006/relationships" id="266" r:id="R700be96f609949a1"/>
    <p:sldId xmlns:r="http://schemas.openxmlformats.org/officeDocument/2006/relationships" id="267" r:id="Rfe7d099160ca43ce"/>
    <p:sldId xmlns:r="http://schemas.openxmlformats.org/officeDocument/2006/relationships" id="268" r:id="R81f6f264addb4fbf"/>
    <p:sldId xmlns:r="http://schemas.openxmlformats.org/officeDocument/2006/relationships" id="269" r:id="R36d04375183743e8"/>
    <p:sldId xmlns:r="http://schemas.openxmlformats.org/officeDocument/2006/relationships" id="270" r:id="R441323c9f84c4992"/>
    <p:sldId xmlns:r="http://schemas.openxmlformats.org/officeDocument/2006/relationships" id="271" r:id="Ra504526aed924103"/>
    <p:sldId xmlns:r="http://schemas.openxmlformats.org/officeDocument/2006/relationships" id="272" r:id="R2b7189e34d00429f"/>
    <p:sldId xmlns:r="http://schemas.openxmlformats.org/officeDocument/2006/relationships" id="273" r:id="R2386a978302246f3"/>
    <p:sldId xmlns:r="http://schemas.openxmlformats.org/officeDocument/2006/relationships" id="274" r:id="Re44440e2db0945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ced15256f845de" /><Relationship Type="http://schemas.openxmlformats.org/officeDocument/2006/relationships/slideMaster" Target="/ppt/slideMasters/slideMaster1.xml" Id="R9ccb0e4c2451428a" /><Relationship Type="http://schemas.openxmlformats.org/officeDocument/2006/relationships/notesMaster" Target="/ppt/notesMasters/notesMaster1.xml" Id="R3616262aec10436a" /><Relationship Type="http://schemas.openxmlformats.org/officeDocument/2006/relationships/presProps" Target="/ppt/presProps.xml" Id="R1a712ae794ce4d73" /><Relationship Type="http://schemas.openxmlformats.org/officeDocument/2006/relationships/tableStyles" Target="/ppt/tableStyles.xml" Id="Raf46de8f59a44346" /><Relationship Type="http://schemas.openxmlformats.org/officeDocument/2006/relationships/slide" Target="/ppt/slides/slide1.xml" Id="Rb0ee65996ef546c7" /><Relationship Type="http://schemas.openxmlformats.org/officeDocument/2006/relationships/slide" Target="/ppt/slides/slide2.xml" Id="Rbb61fdac88d34f4e" /><Relationship Type="http://schemas.openxmlformats.org/officeDocument/2006/relationships/slide" Target="/ppt/slides/slide3.xml" Id="Rf88e0b57ea4d44bd" /><Relationship Type="http://schemas.openxmlformats.org/officeDocument/2006/relationships/slide" Target="/ppt/slides/slide4.xml" Id="Ra10b531e381b4f2c" /><Relationship Type="http://schemas.openxmlformats.org/officeDocument/2006/relationships/slide" Target="/ppt/slides/slide5.xml" Id="R216b33c039b94f6c" /><Relationship Type="http://schemas.openxmlformats.org/officeDocument/2006/relationships/slide" Target="/ppt/slides/slide6.xml" Id="R195fddce4d4647db" /><Relationship Type="http://schemas.openxmlformats.org/officeDocument/2006/relationships/slide" Target="/ppt/slides/slide7.xml" Id="Rf760d0d1093b4f42" /><Relationship Type="http://schemas.openxmlformats.org/officeDocument/2006/relationships/slide" Target="/ppt/slides/slide8.xml" Id="R470519dfba284a43" /><Relationship Type="http://schemas.openxmlformats.org/officeDocument/2006/relationships/slide" Target="/ppt/slides/slide9.xml" Id="R926c71dd9d3d4ca8" /><Relationship Type="http://schemas.openxmlformats.org/officeDocument/2006/relationships/slide" Target="/ppt/slides/slide10.xml" Id="R5098f1e4d8674107" /><Relationship Type="http://schemas.openxmlformats.org/officeDocument/2006/relationships/slide" Target="/ppt/slides/slide11.xml" Id="R700be96f609949a1" /><Relationship Type="http://schemas.openxmlformats.org/officeDocument/2006/relationships/slide" Target="/ppt/slides/slide12.xml" Id="Rfe7d099160ca43ce" /><Relationship Type="http://schemas.openxmlformats.org/officeDocument/2006/relationships/slide" Target="/ppt/slides/slide13.xml" Id="R81f6f264addb4fbf" /><Relationship Type="http://schemas.openxmlformats.org/officeDocument/2006/relationships/slide" Target="/ppt/slides/slide14.xml" Id="R36d04375183743e8" /><Relationship Type="http://schemas.openxmlformats.org/officeDocument/2006/relationships/slide" Target="/ppt/slides/slide15.xml" Id="R441323c9f84c4992" /><Relationship Type="http://schemas.openxmlformats.org/officeDocument/2006/relationships/slide" Target="/ppt/slides/slide16.xml" Id="Ra504526aed924103" /><Relationship Type="http://schemas.openxmlformats.org/officeDocument/2006/relationships/slide" Target="/ppt/slides/slide17.xml" Id="R2b7189e34d00429f" /><Relationship Type="http://schemas.openxmlformats.org/officeDocument/2006/relationships/slide" Target="/ppt/slides/slide18.xml" Id="R2386a978302246f3" /><Relationship Type="http://schemas.openxmlformats.org/officeDocument/2006/relationships/slide" Target="/ppt/slides/slide19.xml" Id="Re44440e2db0945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d717876d6444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b73cd0c10d4c08" /><Relationship Type="http://schemas.openxmlformats.org/officeDocument/2006/relationships/notesMaster" Target="/ppt/notesMasters/notesMaster1.xml" Id="R43e80bc55daa4b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95eff749594fa9" /><Relationship Type="http://schemas.openxmlformats.org/officeDocument/2006/relationships/notesMaster" Target="/ppt/notesMasters/notesMaster1.xml" Id="R4be168cca9904d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8f03a4cd64b41" /><Relationship Type="http://schemas.openxmlformats.org/officeDocument/2006/relationships/notesMaster" Target="/ppt/notesMasters/notesMaster1.xml" Id="R2b94c9ad1d7f4a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bb5390e2e84592" /><Relationship Type="http://schemas.openxmlformats.org/officeDocument/2006/relationships/notesMaster" Target="/ppt/notesMasters/notesMaster1.xml" Id="Rd47365492d3548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5c172c9ad4477b" /><Relationship Type="http://schemas.openxmlformats.org/officeDocument/2006/relationships/notesMaster" Target="/ppt/notesMasters/notesMaster1.xml" Id="R8bbdcedcf0ee43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ce37ffaea845d6" /><Relationship Type="http://schemas.openxmlformats.org/officeDocument/2006/relationships/notesMaster" Target="/ppt/notesMasters/notesMaster1.xml" Id="R7b85fc6f0e3b42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2ad7dd30fa4faf" /><Relationship Type="http://schemas.openxmlformats.org/officeDocument/2006/relationships/notesMaster" Target="/ppt/notesMasters/notesMaster1.xml" Id="Ra568ea6ce3964b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1c39061d984b96" /><Relationship Type="http://schemas.openxmlformats.org/officeDocument/2006/relationships/notesMaster" Target="/ppt/notesMasters/notesMaster1.xml" Id="Rb4ff2cb457a640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91a68304244da5" /><Relationship Type="http://schemas.openxmlformats.org/officeDocument/2006/relationships/notesMaster" Target="/ppt/notesMasters/notesMaster1.xml" Id="R20184ba696294e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6cf1a85b7e4966" /><Relationship Type="http://schemas.openxmlformats.org/officeDocument/2006/relationships/notesMaster" Target="/ppt/notesMasters/notesMaster1.xml" Id="R2c93a2e424094b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61d73d380b44a9" /><Relationship Type="http://schemas.openxmlformats.org/officeDocument/2006/relationships/notesMaster" Target="/ppt/notesMasters/notesMaster1.xml" Id="R214db8ccc1564e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de2e3b65804061" /><Relationship Type="http://schemas.openxmlformats.org/officeDocument/2006/relationships/notesMaster" Target="/ppt/notesMasters/notesMaster1.xml" Id="Re5d03f6a5ddd46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b1bfd0a8544df0" /><Relationship Type="http://schemas.openxmlformats.org/officeDocument/2006/relationships/notesMaster" Target="/ppt/notesMasters/notesMaster1.xml" Id="R4b7e3fb2b73043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6dd25b4348483d" /><Relationship Type="http://schemas.openxmlformats.org/officeDocument/2006/relationships/notesMaster" Target="/ppt/notesMasters/notesMaster1.xml" Id="R73f30890bd8c47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da80f7c9b5482b" /><Relationship Type="http://schemas.openxmlformats.org/officeDocument/2006/relationships/notesMaster" Target="/ppt/notesMasters/notesMaster1.xml" Id="R1d338dc5f50642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d8db6ba99e489b" /><Relationship Type="http://schemas.openxmlformats.org/officeDocument/2006/relationships/notesMaster" Target="/ppt/notesMasters/notesMaster1.xml" Id="Rf8e6b733916e4f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a8c469a2ca4d46" /><Relationship Type="http://schemas.openxmlformats.org/officeDocument/2006/relationships/notesMaster" Target="/ppt/notesMasters/notesMaster1.xml" Id="R2bab7a40e9564c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3d502515774dc5" /><Relationship Type="http://schemas.openxmlformats.org/officeDocument/2006/relationships/notesMaster" Target="/ppt/notesMasters/notesMaster1.xml" Id="R264df0945c244b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2da66fe45646dc" /><Relationship Type="http://schemas.openxmlformats.org/officeDocument/2006/relationships/notesMaster" Target="/ppt/notesMasters/notesMaster1.xml" Id="Rda1fed6297944f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f169851ec46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84d0ef18f4660" /><Relationship Type="http://schemas.openxmlformats.org/officeDocument/2006/relationships/slideLayout" Target="/ppt/slideLayouts/slideLayout1.xml" Id="R7a1b02bbb6664d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1b02bbb6664d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676aa325d4301" /><Relationship Type="http://schemas.openxmlformats.org/officeDocument/2006/relationships/notesSlide" Target="/ppt/notesSlides/notesSlide1.xml" Id="Rb8c9d6117d2844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54749215244ef" /><Relationship Type="http://schemas.openxmlformats.org/officeDocument/2006/relationships/notesSlide" Target="/ppt/notesSlides/notesSlide2.xml" Id="R8f2918eee7874a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c4d8b7e144b24" /><Relationship Type="http://schemas.openxmlformats.org/officeDocument/2006/relationships/notesSlide" Target="/ppt/notesSlides/notesSlide3.xml" Id="R7573ef7d416e42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fe289518d4464" /><Relationship Type="http://schemas.openxmlformats.org/officeDocument/2006/relationships/notesSlide" Target="/ppt/notesSlides/notesSlide4.xml" Id="Rc67fa77e4c394a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06e84558541cb" /><Relationship Type="http://schemas.openxmlformats.org/officeDocument/2006/relationships/image" Target="/ppt/media/image.png" Id="R50ade7d7e23e45da" /><Relationship Type="http://schemas.openxmlformats.org/officeDocument/2006/relationships/notesSlide" Target="/ppt/notesSlides/notesSlide5.xml" Id="Rc4ef7646c17741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71d783cab407e" /><Relationship Type="http://schemas.openxmlformats.org/officeDocument/2006/relationships/image" Target="/ppt/media/image.jpeg" Id="Rcd67ab5a77cb412d" /><Relationship Type="http://schemas.openxmlformats.org/officeDocument/2006/relationships/notesSlide" Target="/ppt/notesSlides/notesSlide6.xml" Id="R46f575cea42d49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6ededac044b64" /><Relationship Type="http://schemas.openxmlformats.org/officeDocument/2006/relationships/image" Target="/ppt/media/image2.jpeg" Id="R5470d2cf554e4235" /><Relationship Type="http://schemas.openxmlformats.org/officeDocument/2006/relationships/notesSlide" Target="/ppt/notesSlides/notesSlide7.xml" Id="Rc8a8134706af49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a60d889c04e84" /><Relationship Type="http://schemas.openxmlformats.org/officeDocument/2006/relationships/image" Target="/ppt/media/image3.jpeg" Id="Rdc4a917962f44cf3" /><Relationship Type="http://schemas.openxmlformats.org/officeDocument/2006/relationships/notesSlide" Target="/ppt/notesSlides/notesSlide8.xml" Id="Rc174fbee466c4a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d172b632f4617" /><Relationship Type="http://schemas.openxmlformats.org/officeDocument/2006/relationships/image" Target="/ppt/media/image2.png" Id="Rd91579914bb941e2" /><Relationship Type="http://schemas.openxmlformats.org/officeDocument/2006/relationships/notesSlide" Target="/ppt/notesSlides/notesSlide9.xml" Id="R88b5242745274f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1312ffd7a4cc4" /><Relationship Type="http://schemas.openxmlformats.org/officeDocument/2006/relationships/image" Target="/ppt/media/image4.jpeg" Id="Rf47f3410dc5f4493" /><Relationship Type="http://schemas.openxmlformats.org/officeDocument/2006/relationships/notesSlide" Target="/ppt/notesSlides/notesSlide10.xml" Id="R2bea800966c84e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8e6959af44c10" /><Relationship Type="http://schemas.openxmlformats.org/officeDocument/2006/relationships/notesSlide" Target="/ppt/notesSlides/notesSlide11.xml" Id="Ra18b0b65de9a4a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68b5825a04744" /><Relationship Type="http://schemas.openxmlformats.org/officeDocument/2006/relationships/notesSlide" Target="/ppt/notesSlides/notesSlide12.xml" Id="Rb1ad88fbaf774a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f61ebedf74b93" /><Relationship Type="http://schemas.openxmlformats.org/officeDocument/2006/relationships/notesSlide" Target="/ppt/notesSlides/notesSlide13.xml" Id="Rb204ea39c58d4e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695ccac454b7d" /><Relationship Type="http://schemas.openxmlformats.org/officeDocument/2006/relationships/image" Target="/ppt/media/image5.jpeg" Id="R84696da5aff64f63" /><Relationship Type="http://schemas.openxmlformats.org/officeDocument/2006/relationships/notesSlide" Target="/ppt/notesSlides/notesSlide14.xml" Id="Rebeeef82b4294f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53ccfbfe34d1b" /><Relationship Type="http://schemas.openxmlformats.org/officeDocument/2006/relationships/image" Target="/ppt/media/image3.png" Id="R3e8765cd8f044a19" /><Relationship Type="http://schemas.openxmlformats.org/officeDocument/2006/relationships/notesSlide" Target="/ppt/notesSlides/notesSlide15.xml" Id="R7238b090033a41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fd9663f66414c" /><Relationship Type="http://schemas.openxmlformats.org/officeDocument/2006/relationships/notesSlide" Target="/ppt/notesSlides/notesSlide16.xml" Id="R7c9797e688b945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00ec1d09d4a9c" /><Relationship Type="http://schemas.openxmlformats.org/officeDocument/2006/relationships/image" Target="/ppt/media/image6.jpeg" Id="Rb96031e0091b4630" /><Relationship Type="http://schemas.openxmlformats.org/officeDocument/2006/relationships/notesSlide" Target="/ppt/notesSlides/notesSlide17.xml" Id="R3ca546a3094f4b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bc7e28eb34d76" /><Relationship Type="http://schemas.openxmlformats.org/officeDocument/2006/relationships/notesSlide" Target="/ppt/notesSlides/notesSlide18.xml" Id="R3768215d987e42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f7249cd464c37" /><Relationship Type="http://schemas.openxmlformats.org/officeDocument/2006/relationships/notesSlide" Target="/ppt/notesSlides/notesSlide19.xml" Id="Rbf48868fa25d40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22C7A78-D860-4455-A094-2045AC32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DataPath
让业务用户放心问数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A4D7295-B616-4E68-B08B-C3D950D3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从业务事实准备、可信执行到持续质量运营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26C3616-6F9D-4FD6-B253-FFEABADE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PRODUCT · 2026</a:t>
            </a:r>
          </a:p>
        </p:txBody>
      </p:sp>
    </p:spTree>
    <p:extLst>
      <p:ext uri="{BB962C8B-B14F-4D97-AF65-F5344CB8AC3E}">
        <p14:creationId xmlns:p14="http://schemas.microsoft.com/office/powerpoint/2010/main" val="4211228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8427508-BD79-4541-84C8-082080EE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3F266FF-17E0-43A6-984D-9A8EAC55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业务用户只想问问题，系统必须承担正确性成本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17006ED-DC46-4197-BE0C-DF6CAD78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用户看到的体验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用自然语言提出临时分析问题，获得图表、数据证据，并围绕结果继续追问。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5832C60F-6E92-4692-9A94-5AF90934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产品承担的责任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在回答前确认口径、关系与权限；上线后持续处理结构变化、错误修复和版本回归。</a:t>
            </a:r>
          </a:p>
        </p:txBody>
      </p:sp>
    </p:spTree>
    <p:extLst>
      <p:ext uri="{BB962C8B-B14F-4D97-AF65-F5344CB8AC3E}">
        <p14:creationId xmlns:p14="http://schemas.microsoft.com/office/powerpoint/2010/main" val="19562187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59F4627-3E8A-4E5B-BE35-FAFCA440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FE0F924-2782-4F39-B542-12EE3C9D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因此，一次可信问数需要三类用户协作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63BB8172-A45F-4937-860E-6BCA2B74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业务用户
提问与追问
查看图表和证据
采用结果或反馈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308E1422-30C5-41E9-B58C-DE56C45D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指标管理员
发布指标语义
审核 AI 预热
处理 Bad Case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EA7ABA46-58DE-4D49-A9DB-896709E2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平台管理员
连接数据仓库
治理关系和权限
处理 Schema 变化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8CF8E76C-5182-4C42-BFF9-5D808B39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7DD69167-A514-413A-96F6-C3E68224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19F71BEC-0023-4297-A198-391BBA3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6335118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BC8BA74-D740-4B4D-A7DA-08DFCCD1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9DBCA24-EBA7-4821-B9B2-92B11FAF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整套产品沿着“准备—问数—运营”持续运行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9F65D30-E4DF-4E2A-82A3-FF36D1FE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准备业务事实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连接数仓、扫描结构、建立业务域、语义模型、共享维度与 Join Graph。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462CDC2-AB49-4511-B213-B2271EF3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准备语言理解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定义公式、单位、版本、维度和血缘；AI 生成可审核的语义预热草稿。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77F500F-20CC-4B3B-8BDC-1A970F42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完成可信问数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自然语言召回指标，生成 DSL，确定性编译执行，再形成图表和 Evidence。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F2719D5-72D6-422C-9250-23B732A1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持续运营能力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权限和 Schema 门禁、反馈归因、Golden 回归、版本发布与测评监控。</a:t>
            </a:r>
          </a:p>
        </p:txBody>
      </p:sp>
    </p:spTree>
    <p:extLst>
      <p:ext uri="{BB962C8B-B14F-4D97-AF65-F5344CB8AC3E}">
        <p14:creationId xmlns:p14="http://schemas.microsoft.com/office/powerpoint/2010/main" val="10265696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05">
            <a:extLst xmlns:a="http://schemas.openxmlformats.org/drawingml/2006/main">
              <a:ext uri="{FF2B5EF4-FFF2-40B4-BE49-F238E27FC236}">
                <a16:creationId xmlns:a16="http://schemas.microsoft.com/office/drawing/2014/main" id="{E1053A99-F4FD-4B6A-825C-B7B65B01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第一步不是让 AI 猜表，而是看清已有数据</a:t>
            </a:r>
          </a:p>
        </p:txBody>
      </p:sp>
      <p:sp>
        <p:nvSpPr>
          <p:cNvPr id="2" name="feature-label-05">
            <a:extLst xmlns:a="http://schemas.openxmlformats.org/drawingml/2006/main">
              <a:ext uri="{FF2B5EF4-FFF2-40B4-BE49-F238E27FC236}">
                <a16:creationId xmlns:a16="http://schemas.microsoft.com/office/drawing/2014/main" id="{76DFC513-A806-495D-A01A-03CB3725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INTERACTION DESIGN</a:t>
            </a:r>
          </a:p>
        </p:txBody>
      </p:sp>
      <p:sp>
        <p:nvSpPr>
          <p:cNvPr id="3" name="feature-statement-05">
            <a:extLst xmlns:a="http://schemas.openxmlformats.org/drawingml/2006/main">
              <a:ext uri="{FF2B5EF4-FFF2-40B4-BE49-F238E27FC236}">
                <a16:creationId xmlns:a16="http://schemas.microsoft.com/office/drawing/2014/main" id="{009A80D3-3115-460C-BB3F-445F8692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系统保存只读连接配置，扫描表、字段和类型，但不自动猜测业务含义。</a:t>
            </a:r>
          </a:p>
        </p:txBody>
      </p:sp>
      <p:sp>
        <p:nvSpPr>
          <p:cNvPr id="4" name="feature-detail-05">
            <a:extLst xmlns:a="http://schemas.openxmlformats.org/drawingml/2006/main">
              <a:ext uri="{FF2B5EF4-FFF2-40B4-BE49-F238E27FC236}">
                <a16:creationId xmlns:a16="http://schemas.microsoft.com/office/drawing/2014/main" id="{416BF776-A7E5-46FE-A8EC-7B7DD5D9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 PostgreSQL、ClickHouse 等分析数据源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展示表规模、扫描状态和结构变化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业务解释在独立业务域中确认和发布</a:t>
            </a:r>
          </a:p>
        </p:txBody>
      </p:sp>
      <p:sp>
        <p:nvSpPr>
          <p:cNvPr id="5" name="feature-image-backing-05">
            <a:extLst xmlns:a="http://schemas.openxmlformats.org/drawingml/2006/main">
              <a:ext uri="{FF2B5EF4-FFF2-40B4-BE49-F238E27FC236}">
                <a16:creationId xmlns:a16="http://schemas.microsoft.com/office/drawing/2014/main" id="{788EF946-02E4-442F-87D9-FE3B5E95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324725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de7d7e23e45da"/>
          <a:stretch xmlns:a="http://schemas.openxmlformats.org/drawingml/2006/main"/>
        </p:blipFill>
        <p:spPr>
          <a:xfrm xmlns:a="http://schemas.openxmlformats.org/drawingml/2006/main">
            <a:off x="5200241" y="1447800"/>
            <a:ext cx="5877744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05">
            <a:extLst xmlns:a="http://schemas.openxmlformats.org/drawingml/2006/main">
              <a:ext uri="{FF2B5EF4-FFF2-40B4-BE49-F238E27FC236}">
                <a16:creationId xmlns:a16="http://schemas.microsoft.com/office/drawing/2014/main" id="{82A458D3-939D-4A64-9231-413D0B3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4955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06">
            <a:extLst xmlns:a="http://schemas.openxmlformats.org/drawingml/2006/main">
              <a:ext uri="{FF2B5EF4-FFF2-40B4-BE49-F238E27FC236}">
                <a16:creationId xmlns:a16="http://schemas.microsoft.com/office/drawing/2014/main" id="{AED7513F-40AE-40B3-B7A8-BCBA28A2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物理数据需要先被组织成业务可以理解的事实</a:t>
            </a:r>
          </a:p>
        </p:txBody>
      </p:sp>
      <p:sp>
        <p:nvSpPr>
          <p:cNvPr id="2" name="feature-label-06">
            <a:extLst xmlns:a="http://schemas.openxmlformats.org/drawingml/2006/main">
              <a:ext uri="{FF2B5EF4-FFF2-40B4-BE49-F238E27FC236}">
                <a16:creationId xmlns:a16="http://schemas.microsoft.com/office/drawing/2014/main" id="{3163E6B3-3401-4117-AA8F-4F0BD801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DDL ACCEPTANCE</a:t>
            </a:r>
          </a:p>
        </p:txBody>
      </p:sp>
      <p:sp>
        <p:nvSpPr>
          <p:cNvPr id="3" name="feature-statement-06">
            <a:extLst xmlns:a="http://schemas.openxmlformats.org/drawingml/2006/main">
              <a:ext uri="{FF2B5EF4-FFF2-40B4-BE49-F238E27FC236}">
                <a16:creationId xmlns:a16="http://schemas.microsoft.com/office/drawing/2014/main" id="{038C4AB2-2580-4FD0-B932-2028FB9B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同一张物理表可以被不同业务域解释，但每个业务域都有独立的模型、关系和指标版本。</a:t>
            </a:r>
          </a:p>
        </p:txBody>
      </p:sp>
      <p:sp>
        <p:nvSpPr>
          <p:cNvPr id="4" name="feature-detail-06">
            <a:extLst xmlns:a="http://schemas.openxmlformats.org/drawingml/2006/main">
              <a:ext uri="{FF2B5EF4-FFF2-40B4-BE49-F238E27FC236}">
                <a16:creationId xmlns:a16="http://schemas.microsoft.com/office/drawing/2014/main" id="{CADC0C98-AFA7-4AF2-9A52-1240F9E5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确认事实表、维度表、粒度和业务唯一键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维护共享维度、开放字段和负责人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模型、关系或指标异常时业务域显示降级</a:t>
            </a:r>
          </a:p>
        </p:txBody>
      </p:sp>
      <p:sp>
        <p:nvSpPr>
          <p:cNvPr id="5" name="feature-image-backing-06">
            <a:extLst xmlns:a="http://schemas.openxmlformats.org/drawingml/2006/main">
              <a:ext uri="{FF2B5EF4-FFF2-40B4-BE49-F238E27FC236}">
                <a16:creationId xmlns:a16="http://schemas.microsoft.com/office/drawing/2014/main" id="{6E8AEC9B-E2F2-4AFC-B90F-E6EF58BD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733425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7ab5a77cb412d"/>
          <a:stretch xmlns:a="http://schemas.openxmlformats.org/drawingml/2006/main"/>
        </p:blipFill>
        <p:spPr>
          <a:xfrm xmlns:a="http://schemas.openxmlformats.org/drawingml/2006/main">
            <a:off x="2237147" y="1447800"/>
            <a:ext cx="3641007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06">
            <a:extLst xmlns:a="http://schemas.openxmlformats.org/drawingml/2006/main">
              <a:ext uri="{FF2B5EF4-FFF2-40B4-BE49-F238E27FC236}">
                <a16:creationId xmlns:a16="http://schemas.microsoft.com/office/drawing/2014/main" id="{7E86C636-D4BB-4F26-8ECE-3F2BB9F6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9671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07">
            <a:extLst xmlns:a="http://schemas.openxmlformats.org/drawingml/2006/main">
              <a:ext uri="{FF2B5EF4-FFF2-40B4-BE49-F238E27FC236}">
                <a16:creationId xmlns:a16="http://schemas.microsoft.com/office/drawing/2014/main" id="{90C56E23-EC59-4FD7-B3EB-BEB10B18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指标中心为每个业务问题提供唯一、可追溯的口径</a:t>
            </a:r>
          </a:p>
        </p:txBody>
      </p:sp>
      <p:sp>
        <p:nvSpPr>
          <p:cNvPr id="2" name="feature-label-07">
            <a:extLst xmlns:a="http://schemas.openxmlformats.org/drawingml/2006/main">
              <a:ext uri="{FF2B5EF4-FFF2-40B4-BE49-F238E27FC236}">
                <a16:creationId xmlns:a16="http://schemas.microsoft.com/office/drawing/2014/main" id="{C42C12C5-AE3B-4BAE-9B73-4F222F39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RUNNING PRODUCT</a:t>
            </a:r>
          </a:p>
        </p:txBody>
      </p:sp>
      <p:sp>
        <p:nvSpPr>
          <p:cNvPr id="3" name="feature-statement-07">
            <a:extLst xmlns:a="http://schemas.openxmlformats.org/drawingml/2006/main">
              <a:ext uri="{FF2B5EF4-FFF2-40B4-BE49-F238E27FC236}">
                <a16:creationId xmlns:a16="http://schemas.microsoft.com/office/drawing/2014/main" id="{616B3BDC-B898-43ED-95D6-3617F2A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只有经过确认和发布的指标，才能进入在线召回和查询执行。</a:t>
            </a:r>
          </a:p>
        </p:txBody>
      </p:sp>
      <p:sp>
        <p:nvSpPr>
          <p:cNvPr id="4" name="feature-detail-07">
            <a:extLst xmlns:a="http://schemas.openxmlformats.org/drawingml/2006/main">
              <a:ext uri="{FF2B5EF4-FFF2-40B4-BE49-F238E27FC236}">
                <a16:creationId xmlns:a16="http://schemas.microsoft.com/office/drawing/2014/main" id="{78AEBFB6-665B-4E56-BEEE-216A27CC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维护名称、定义、公式、单位和可用维度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展示语义模型、物理表与指标血缘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后续修改创建递增版本，不覆盖历史口径</a:t>
            </a:r>
          </a:p>
        </p:txBody>
      </p:sp>
      <p:sp>
        <p:nvSpPr>
          <p:cNvPr id="5" name="feature-image-backing-07">
            <a:extLst xmlns:a="http://schemas.openxmlformats.org/drawingml/2006/main">
              <a:ext uri="{FF2B5EF4-FFF2-40B4-BE49-F238E27FC236}">
                <a16:creationId xmlns:a16="http://schemas.microsoft.com/office/drawing/2014/main" id="{375E349F-4F2B-4CCB-9748-18C95F3D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324725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0d2cf554e4235"/>
          <a:stretch xmlns:a="http://schemas.openxmlformats.org/drawingml/2006/main"/>
        </p:blipFill>
        <p:spPr>
          <a:xfrm xmlns:a="http://schemas.openxmlformats.org/drawingml/2006/main">
            <a:off x="4651328" y="1447800"/>
            <a:ext cx="6975568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07">
            <a:extLst xmlns:a="http://schemas.openxmlformats.org/drawingml/2006/main">
              <a:ext uri="{FF2B5EF4-FFF2-40B4-BE49-F238E27FC236}">
                <a16:creationId xmlns:a16="http://schemas.microsoft.com/office/drawing/2014/main" id="{066953C3-3288-4833-834E-ED341289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7192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08">
            <a:extLst xmlns:a="http://schemas.openxmlformats.org/drawingml/2006/main">
              <a:ext uri="{FF2B5EF4-FFF2-40B4-BE49-F238E27FC236}">
                <a16:creationId xmlns:a16="http://schemas.microsoft.com/office/drawing/2014/main" id="{46592823-94AF-4C2D-818C-D0D0E453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口径确定后，AI 预热补齐企业用户的表达方式</a:t>
            </a:r>
          </a:p>
        </p:txBody>
      </p:sp>
      <p:sp>
        <p:nvSpPr>
          <p:cNvPr id="2" name="feature-label-08">
            <a:extLst xmlns:a="http://schemas.openxmlformats.org/drawingml/2006/main">
              <a:ext uri="{FF2B5EF4-FFF2-40B4-BE49-F238E27FC236}">
                <a16:creationId xmlns:a16="http://schemas.microsoft.com/office/drawing/2014/main" id="{10A9A7DE-42FC-4EBE-BE6B-96494D63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RUNNING PRODUCT</a:t>
            </a:r>
          </a:p>
        </p:txBody>
      </p:sp>
      <p:sp>
        <p:nvSpPr>
          <p:cNvPr id="3" name="feature-statement-08">
            <a:extLst xmlns:a="http://schemas.openxmlformats.org/drawingml/2006/main">
              <a:ext uri="{FF2B5EF4-FFF2-40B4-BE49-F238E27FC236}">
                <a16:creationId xmlns:a16="http://schemas.microsoft.com/office/drawing/2014/main" id="{DF836E07-A0AB-4B3B-B664-52CE1F29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只扩展企业语言表达，不修改工作人员确认的公式、血缘、权限和发布状态。</a:t>
            </a:r>
          </a:p>
        </p:txBody>
      </p:sp>
      <p:sp>
        <p:nvSpPr>
          <p:cNvPr id="4" name="feature-detail-08">
            <a:extLst xmlns:a="http://schemas.openxmlformats.org/drawingml/2006/main">
              <a:ext uri="{FF2B5EF4-FFF2-40B4-BE49-F238E27FC236}">
                <a16:creationId xmlns:a16="http://schemas.microsoft.com/office/drawing/2014/main" id="{F4959483-A1CF-47B4-8235-2157EFC5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生成别名、典型问法与相似指标反例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计算语义完整度并提示缺失资产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人工审阅后应用，再建立混合召回索引</a:t>
            </a:r>
          </a:p>
        </p:txBody>
      </p:sp>
      <p:sp>
        <p:nvSpPr>
          <p:cNvPr id="5" name="feature-image-backing-08">
            <a:extLst xmlns:a="http://schemas.openxmlformats.org/drawingml/2006/main">
              <a:ext uri="{FF2B5EF4-FFF2-40B4-BE49-F238E27FC236}">
                <a16:creationId xmlns:a16="http://schemas.microsoft.com/office/drawing/2014/main" id="{47C9820B-F64F-4138-955F-C6F01251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733425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a917962f44cf3"/>
          <a:stretch xmlns:a="http://schemas.openxmlformats.org/drawingml/2006/main"/>
        </p:blipFill>
        <p:spPr>
          <a:xfrm xmlns:a="http://schemas.openxmlformats.org/drawingml/2006/main">
            <a:off x="546185" y="1447800"/>
            <a:ext cx="7022931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08">
            <a:extLst xmlns:a="http://schemas.openxmlformats.org/drawingml/2006/main">
              <a:ext uri="{FF2B5EF4-FFF2-40B4-BE49-F238E27FC236}">
                <a16:creationId xmlns:a16="http://schemas.microsoft.com/office/drawing/2014/main" id="{76BE4B6E-20C6-403E-8C4A-A075DCEB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60902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09">
            <a:extLst xmlns:a="http://schemas.openxmlformats.org/drawingml/2006/main">
              <a:ext uri="{FF2B5EF4-FFF2-40B4-BE49-F238E27FC236}">
                <a16:creationId xmlns:a16="http://schemas.microsoft.com/office/drawing/2014/main" id="{E8B9A7B5-FB8C-483F-B1EF-FC0CECB4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多表分析能否可信，取决于关系是否提前治理</a:t>
            </a:r>
          </a:p>
        </p:txBody>
      </p:sp>
      <p:sp>
        <p:nvSpPr>
          <p:cNvPr id="2" name="feature-label-09">
            <a:extLst xmlns:a="http://schemas.openxmlformats.org/drawingml/2006/main">
              <a:ext uri="{FF2B5EF4-FFF2-40B4-BE49-F238E27FC236}">
                <a16:creationId xmlns:a16="http://schemas.microsoft.com/office/drawing/2014/main" id="{F9D1E813-9094-4DB8-8380-18E2D052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INTERACTION DESIGN</a:t>
            </a:r>
          </a:p>
        </p:txBody>
      </p:sp>
      <p:sp>
        <p:nvSpPr>
          <p:cNvPr id="3" name="feature-statement-09">
            <a:extLst xmlns:a="http://schemas.openxmlformats.org/drawingml/2006/main">
              <a:ext uri="{FF2B5EF4-FFF2-40B4-BE49-F238E27FC236}">
                <a16:creationId xmlns:a16="http://schemas.microsoft.com/office/drawing/2014/main" id="{2C05ABDC-1314-4EF9-8C3D-2E3299C2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字段同名或数据库存在外键，不代表业务关联一定安全。</a:t>
            </a:r>
          </a:p>
        </p:txBody>
      </p:sp>
      <p:sp>
        <p:nvSpPr>
          <p:cNvPr id="4" name="feature-detail-09">
            <a:extLst xmlns:a="http://schemas.openxmlformats.org/drawingml/2006/main">
              <a:ext uri="{FF2B5EF4-FFF2-40B4-BE49-F238E27FC236}">
                <a16:creationId xmlns:a16="http://schemas.microsoft.com/office/drawing/2014/main" id="{41B592F2-9C2C-4547-9A10-D0FFC7AB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记录关联键、基数、Join 类型和验证状态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多对多关系默认阻断，避免结果被放大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跨事实指标强制先聚合再关联</a:t>
            </a:r>
          </a:p>
        </p:txBody>
      </p:sp>
      <p:sp>
        <p:nvSpPr>
          <p:cNvPr id="5" name="feature-image-backing-09">
            <a:extLst xmlns:a="http://schemas.openxmlformats.org/drawingml/2006/main">
              <a:ext uri="{FF2B5EF4-FFF2-40B4-BE49-F238E27FC236}">
                <a16:creationId xmlns:a16="http://schemas.microsoft.com/office/drawing/2014/main" id="{6F155287-6832-44F3-A871-75361782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324725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579914bb941e2"/>
          <a:stretch xmlns:a="http://schemas.openxmlformats.org/drawingml/2006/main"/>
        </p:blipFill>
        <p:spPr>
          <a:xfrm xmlns:a="http://schemas.openxmlformats.org/drawingml/2006/main">
            <a:off x="5200241" y="1447800"/>
            <a:ext cx="5877744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09">
            <a:extLst xmlns:a="http://schemas.openxmlformats.org/drawingml/2006/main">
              <a:ext uri="{FF2B5EF4-FFF2-40B4-BE49-F238E27FC236}">
                <a16:creationId xmlns:a16="http://schemas.microsoft.com/office/drawing/2014/main" id="{DF8B6539-F62D-4F18-8F73-2EC9BD28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05362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10">
            <a:extLst xmlns:a="http://schemas.openxmlformats.org/drawingml/2006/main">
              <a:ext uri="{FF2B5EF4-FFF2-40B4-BE49-F238E27FC236}">
                <a16:creationId xmlns:a16="http://schemas.microsoft.com/office/drawing/2014/main" id="{69E1153D-6AD9-42E5-AB42-5F27585A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准备工作完成后，业务用户只需要描述问题</a:t>
            </a:r>
          </a:p>
        </p:txBody>
      </p:sp>
      <p:sp>
        <p:nvSpPr>
          <p:cNvPr id="2" name="feature-label-10">
            <a:extLst xmlns:a="http://schemas.openxmlformats.org/drawingml/2006/main">
              <a:ext uri="{FF2B5EF4-FFF2-40B4-BE49-F238E27FC236}">
                <a16:creationId xmlns:a16="http://schemas.microsoft.com/office/drawing/2014/main" id="{3FFFFAF7-28A3-4141-9700-E0F9A4AB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RUNNING PRODUCT</a:t>
            </a:r>
          </a:p>
        </p:txBody>
      </p:sp>
      <p:sp>
        <p:nvSpPr>
          <p:cNvPr id="3" name="feature-statement-10">
            <a:extLst xmlns:a="http://schemas.openxmlformats.org/drawingml/2006/main">
              <a:ext uri="{FF2B5EF4-FFF2-40B4-BE49-F238E27FC236}">
                <a16:creationId xmlns:a16="http://schemas.microsoft.com/office/drawing/2014/main" id="{2034AA05-D754-4811-AB60-5EEFF35C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业务用户不需要知道表名和字段名，只需要描述指标、时间、维度和筛选条件。</a:t>
            </a:r>
          </a:p>
        </p:txBody>
      </p:sp>
      <p:sp>
        <p:nvSpPr>
          <p:cNvPr id="4" name="feature-detail-10">
            <a:extLst xmlns:a="http://schemas.openxmlformats.org/drawingml/2006/main">
              <a:ext uri="{FF2B5EF4-FFF2-40B4-BE49-F238E27FC236}">
                <a16:creationId xmlns:a16="http://schemas.microsoft.com/office/drawing/2014/main" id="{F439E38C-31BD-468F-9067-A0F94310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支持业务域与演示数据角色切换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继承已确认的指标、时间和筛选条件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展示本轮执行链路与结果状态</a:t>
            </a:r>
          </a:p>
        </p:txBody>
      </p:sp>
      <p:sp>
        <p:nvSpPr>
          <p:cNvPr id="5" name="feature-image-backing-10">
            <a:extLst xmlns:a="http://schemas.openxmlformats.org/drawingml/2006/main">
              <a:ext uri="{FF2B5EF4-FFF2-40B4-BE49-F238E27FC236}">
                <a16:creationId xmlns:a16="http://schemas.microsoft.com/office/drawing/2014/main" id="{A4534442-7BB5-4B36-B7F5-BD7861DE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733425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f3410dc5f4493"/>
          <a:stretch xmlns:a="http://schemas.openxmlformats.org/drawingml/2006/main"/>
        </p:blipFill>
        <p:spPr>
          <a:xfrm xmlns:a="http://schemas.openxmlformats.org/drawingml/2006/main">
            <a:off x="1362896" y="1447800"/>
            <a:ext cx="5389507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10">
            <a:extLst xmlns:a="http://schemas.openxmlformats.org/drawingml/2006/main">
              <a:ext uri="{FF2B5EF4-FFF2-40B4-BE49-F238E27FC236}">
                <a16:creationId xmlns:a16="http://schemas.microsoft.com/office/drawing/2014/main" id="{2C6043FE-9AAE-4015-BFDD-DCFAD942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66291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F8E3323-2567-45FC-A04D-4973F136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4ABAF78-EA2D-46CD-80B2-27F5E1E2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用户的一句话，会经过三段可检查的处理链路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645D50E-41D0-4B3D-A47C-F8DFC153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7C512B0-854A-4887-A905-A38EC35E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0F66073-0CC1-47B4-8B53-D8A748D4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38345DE-0484-4F16-A6AE-BDCEEC05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理解问题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7457EAE9-8673-4536-9BAE-E24C630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安全执行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0A1E5C6-D574-4AAA-9859-1DFAE318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生成回答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CDF4447-D879-4729-A2C7-DDA31B14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验证并编译 DSL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后端检查版本、维度、权限、Schema、Join 和成本，再确定性编译为只读 SQL。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1363B7F-2F1E-475F-8B20-47822B7D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检索并裁决指标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完整名称、别名、BM25、正反例和向量混合召回；模型从有限候选中选择或澄清。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E6EC539-7326-43DD-A392-8A40D793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约束解释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查询结果形成结构化证据；Reflection 检查业务解读是否得到数据支持。</a:t>
            </a:r>
          </a:p>
        </p:txBody>
      </p:sp>
    </p:spTree>
    <p:extLst>
      <p:ext uri="{BB962C8B-B14F-4D97-AF65-F5344CB8AC3E}">
        <p14:creationId xmlns:p14="http://schemas.microsoft.com/office/powerpoint/2010/main" val="17461788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6ECDAF3-B646-4D3A-B203-F95454AA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EA16991-ED96-4E1B-AF08-7DB87C9A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证据不足时，产品不会为了回答率强行给出数字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5E20835-EEBB-48F6-8142-FEED4443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可以继续使用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SUCCESS：完整门禁通过并返回结果。
CLARIFY：存在合理歧义或缺少必要条件。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B2D0E12E-A9EF-45DD-AF8D-91ABB8ED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不能进入执行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REJECT：问题超出当前业务域或产品能力。
BLOCKED：权限、Schema、安全或资产状态不允许执行。</a:t>
            </a:r>
          </a:p>
        </p:txBody>
      </p:sp>
    </p:spTree>
    <p:extLst>
      <p:ext uri="{BB962C8B-B14F-4D97-AF65-F5344CB8AC3E}">
        <p14:creationId xmlns:p14="http://schemas.microsoft.com/office/powerpoint/2010/main" val="19367223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AFF90FD-19B5-4FE7-A702-284454F2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30E909E-7497-44E4-BB61-62BD7CEA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每次执行都重新经过权限与安全门禁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E005CA5-807F-48E3-860D-3854EC9A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角色与业务域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每轮重新加载身份、租户、业务域和数据范围，不从对话历史继承权限。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85D64F7F-EEC6-4324-A1BD-D659EA38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发布状态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草稿、失效或受影响的指标、模型和关系不能进入查询执行。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D282FB2-47A4-49E4-A19A-8F67E00D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查询约束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限制字段、过滤、排序、行数、扫描成本，并禁止 DDL、DML 和自由 SQL。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D8D101A-A21A-4A4C-B157-562E8AE0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执行令牌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版本、权限和 DSL 形成签名令牌，篡改或过期请求会被拒绝。</a:t>
            </a:r>
          </a:p>
        </p:txBody>
      </p:sp>
    </p:spTree>
    <p:extLst>
      <p:ext uri="{BB962C8B-B14F-4D97-AF65-F5344CB8AC3E}">
        <p14:creationId xmlns:p14="http://schemas.microsoft.com/office/powerpoint/2010/main" val="1438469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14">
            <a:extLst xmlns:a="http://schemas.openxmlformats.org/drawingml/2006/main">
              <a:ext uri="{FF2B5EF4-FFF2-40B4-BE49-F238E27FC236}">
                <a16:creationId xmlns:a16="http://schemas.microsoft.com/office/drawing/2014/main" id="{F01BD49C-76A3-42FB-8034-6BAC08A1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真实环境发生变化时，过期能力会自动停止服务</a:t>
            </a:r>
          </a:p>
        </p:txBody>
      </p:sp>
      <p:sp>
        <p:nvSpPr>
          <p:cNvPr id="2" name="feature-label-14">
            <a:extLst xmlns:a="http://schemas.openxmlformats.org/drawingml/2006/main">
              <a:ext uri="{FF2B5EF4-FFF2-40B4-BE49-F238E27FC236}">
                <a16:creationId xmlns:a16="http://schemas.microsoft.com/office/drawing/2014/main" id="{BF556A23-E7AF-4750-A48D-D86DABF1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DDL ACCEPTANCE</a:t>
            </a:r>
          </a:p>
        </p:txBody>
      </p:sp>
      <p:sp>
        <p:nvSpPr>
          <p:cNvPr id="3" name="feature-statement-14">
            <a:extLst xmlns:a="http://schemas.openxmlformats.org/drawingml/2006/main">
              <a:ext uri="{FF2B5EF4-FFF2-40B4-BE49-F238E27FC236}">
                <a16:creationId xmlns:a16="http://schemas.microsoft.com/office/drawing/2014/main" id="{1AEC4D52-6A98-4734-9E45-A6BF07E6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字段删除、类型变化或表缺失发生后，系统不会继续使用过期语义资产。</a:t>
            </a:r>
          </a:p>
        </p:txBody>
      </p:sp>
      <p:sp>
        <p:nvSpPr>
          <p:cNvPr id="4" name="feature-detail-14">
            <a:extLst xmlns:a="http://schemas.openxmlformats.org/drawingml/2006/main">
              <a:ext uri="{FF2B5EF4-FFF2-40B4-BE49-F238E27FC236}">
                <a16:creationId xmlns:a16="http://schemas.microsoft.com/office/drawing/2014/main" id="{4E707039-DFC5-4C1E-8D46-A3DE75C3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扫描识别结构变化并生成影响事件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传播到业务域、模型、关系和指标状态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人工修复并重新发布后才能恢复能力</a:t>
            </a:r>
          </a:p>
        </p:txBody>
      </p:sp>
      <p:sp>
        <p:nvSpPr>
          <p:cNvPr id="5" name="feature-image-backing-14">
            <a:extLst xmlns:a="http://schemas.openxmlformats.org/drawingml/2006/main">
              <a:ext uri="{FF2B5EF4-FFF2-40B4-BE49-F238E27FC236}">
                <a16:creationId xmlns:a16="http://schemas.microsoft.com/office/drawing/2014/main" id="{EE3661BB-49F0-49A2-BF52-39A31129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324725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96da5aff64f63"/>
          <a:stretch xmlns:a="http://schemas.openxmlformats.org/drawingml/2006/main"/>
        </p:blipFill>
        <p:spPr>
          <a:xfrm xmlns:a="http://schemas.openxmlformats.org/drawingml/2006/main">
            <a:off x="6228027" y="1447800"/>
            <a:ext cx="3822171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14">
            <a:extLst xmlns:a="http://schemas.openxmlformats.org/drawingml/2006/main">
              <a:ext uri="{FF2B5EF4-FFF2-40B4-BE49-F238E27FC236}">
                <a16:creationId xmlns:a16="http://schemas.microsoft.com/office/drawing/2014/main" id="{1B095566-A7EA-4378-BFD4-5A4BAED1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80833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15">
            <a:extLst xmlns:a="http://schemas.openxmlformats.org/drawingml/2006/main">
              <a:ext uri="{FF2B5EF4-FFF2-40B4-BE49-F238E27FC236}">
                <a16:creationId xmlns:a16="http://schemas.microsoft.com/office/drawing/2014/main" id="{BD0FAEE1-D1C6-415B-8AD1-FBA032B2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发现错误后，反馈必须进入可以执行的修复流程</a:t>
            </a:r>
          </a:p>
        </p:txBody>
      </p:sp>
      <p:sp>
        <p:nvSpPr>
          <p:cNvPr id="2" name="feature-label-15">
            <a:extLst xmlns:a="http://schemas.openxmlformats.org/drawingml/2006/main">
              <a:ext uri="{FF2B5EF4-FFF2-40B4-BE49-F238E27FC236}">
                <a16:creationId xmlns:a16="http://schemas.microsoft.com/office/drawing/2014/main" id="{CBBD0779-59CD-46DA-A471-20969AFA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INTERACTION DESIGN</a:t>
            </a:r>
          </a:p>
        </p:txBody>
      </p:sp>
      <p:sp>
        <p:nvSpPr>
          <p:cNvPr id="3" name="feature-statement-15">
            <a:extLst xmlns:a="http://schemas.openxmlformats.org/drawingml/2006/main">
              <a:ext uri="{FF2B5EF4-FFF2-40B4-BE49-F238E27FC236}">
                <a16:creationId xmlns:a16="http://schemas.microsoft.com/office/drawing/2014/main" id="{9DA5B93B-B25F-4E5F-A392-018D4935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用户反馈会自动关联原问题的指标版本、DSL、血缘、成本和结果摘要。</a:t>
            </a:r>
          </a:p>
        </p:txBody>
      </p:sp>
      <p:sp>
        <p:nvSpPr>
          <p:cNvPr id="4" name="feature-detail-15">
            <a:extLst xmlns:a="http://schemas.openxmlformats.org/drawingml/2006/main">
              <a:ext uri="{FF2B5EF4-FFF2-40B4-BE49-F238E27FC236}">
                <a16:creationId xmlns:a16="http://schemas.microsoft.com/office/drawing/2014/main" id="{012D02A2-01CC-49B3-8CD9-AFB3991A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工作人员确认是否构成 Bad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语义问题在线修改；结构问题路由到治理模块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完整处理过程保留状态和审计记录</a:t>
            </a:r>
          </a:p>
        </p:txBody>
      </p:sp>
      <p:sp>
        <p:nvSpPr>
          <p:cNvPr id="5" name="feature-image-backing-15">
            <a:extLst xmlns:a="http://schemas.openxmlformats.org/drawingml/2006/main">
              <a:ext uri="{FF2B5EF4-FFF2-40B4-BE49-F238E27FC236}">
                <a16:creationId xmlns:a16="http://schemas.microsoft.com/office/drawing/2014/main" id="{D4ED8E8C-99FB-4E7E-AF6A-84D0D5EB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733425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765cd8f044a19"/>
          <a:stretch xmlns:a="http://schemas.openxmlformats.org/drawingml/2006/main"/>
        </p:blipFill>
        <p:spPr>
          <a:xfrm xmlns:a="http://schemas.openxmlformats.org/drawingml/2006/main">
            <a:off x="1118778" y="1447800"/>
            <a:ext cx="5877744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15">
            <a:extLst xmlns:a="http://schemas.openxmlformats.org/drawingml/2006/main">
              <a:ext uri="{FF2B5EF4-FFF2-40B4-BE49-F238E27FC236}">
                <a16:creationId xmlns:a16="http://schemas.microsoft.com/office/drawing/2014/main" id="{2D5FC576-6333-410D-A96D-A98452DA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580275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9E787B2-1DCE-47E7-9F67-94C4AE56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78FF803-9A47-4206-AEE2-D845BCA3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修好当前问题还不够，还要证明没有破坏已有能力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DD24663-851E-4D86-AFCA-DBAD795E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F8B2A21-0B54-4918-A868-E7F7A2D9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888FB55-A140-4988-8630-97D8BF4B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48B06B7-8C5F-4C00-8FAB-E2ED8647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确认正确答案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3D4C138-0969-4F42-B02C-50E06408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验证修复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DD87FA9-36A1-41B4-8A18-E92890F3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发布新版本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96E0FCAC-1015-4282-B9B8-003FAC6D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回归受影响用例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同时验证当前 Bad Case、同指标 Active Golden 和语义冲突指标关联用例。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CF4D3E5-3841-4173-AEF0-B29BD5E3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建立人工契约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工作人员确认正确终态、指标、查询形态和结果；原系统输出不能自动成为 Golden。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D27F0D5-9E80-469A-9A37-0D6D17D3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门禁决定发布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任一回归失败都不能发布；通过后生成不可变指标新版本并绑定修复记录。</a:t>
            </a:r>
          </a:p>
        </p:txBody>
      </p:sp>
    </p:spTree>
    <p:extLst>
      <p:ext uri="{BB962C8B-B14F-4D97-AF65-F5344CB8AC3E}">
        <p14:creationId xmlns:p14="http://schemas.microsoft.com/office/powerpoint/2010/main" val="6963782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eature-title-17">
            <a:extLst xmlns:a="http://schemas.openxmlformats.org/drawingml/2006/main">
              <a:ext uri="{FF2B5EF4-FFF2-40B4-BE49-F238E27FC236}">
                <a16:creationId xmlns:a16="http://schemas.microsoft.com/office/drawing/2014/main" id="{567C179F-2181-4FE7-8545-ABFAB914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所有能力最终都回到同一套测评与发布门禁</a:t>
            </a:r>
          </a:p>
        </p:txBody>
      </p:sp>
      <p:sp>
        <p:nvSpPr>
          <p:cNvPr id="2" name="feature-label-17">
            <a:extLst xmlns:a="http://schemas.openxmlformats.org/drawingml/2006/main">
              <a:ext uri="{FF2B5EF4-FFF2-40B4-BE49-F238E27FC236}">
                <a16:creationId xmlns:a16="http://schemas.microsoft.com/office/drawing/2014/main" id="{C799238F-4E4B-416E-825A-ED78F2ED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09700"/>
            <a:ext cx="3705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C86"/>
                </a:solidFill>
                <a:latin typeface="Helvetica Neue"/>
                <a:ea typeface="Helvetica Neue"/>
                <a:cs typeface="Helvetica Neue"/>
              </a:rPr>
              <a:t>RUNNING PRODUCT</a:t>
            </a:r>
          </a:p>
        </p:txBody>
      </p:sp>
      <p:sp>
        <p:nvSpPr>
          <p:cNvPr id="3" name="feature-statement-17">
            <a:extLst xmlns:a="http://schemas.openxmlformats.org/drawingml/2006/main">
              <a:ext uri="{FF2B5EF4-FFF2-40B4-BE49-F238E27FC236}">
                <a16:creationId xmlns:a16="http://schemas.microsoft.com/office/drawing/2014/main" id="{FBB33A2C-A075-43CF-B68B-1E0B98A0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370522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评测不以 HTTP 成功或 SQL 可执行为正确，而是同时检查语义、DSL、Oracle 结果和安全状态。</a:t>
            </a:r>
          </a:p>
        </p:txBody>
      </p:sp>
      <p:sp>
        <p:nvSpPr>
          <p:cNvPr id="4" name="feature-detail-17">
            <a:extLst xmlns:a="http://schemas.openxmlformats.org/drawingml/2006/main">
              <a:ext uri="{FF2B5EF4-FFF2-40B4-BE49-F238E27FC236}">
                <a16:creationId xmlns:a16="http://schemas.microsoft.com/office/drawing/2014/main" id="{D3796C38-EAF7-4475-ABE1-C5236F53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71875"/>
            <a:ext cx="37052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按核心指标、跨事实、权限、Schema 等分类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危险执行和错误指标选择必须为零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逐条证据冻结并支持问题定位</a:t>
            </a:r>
          </a:p>
        </p:txBody>
      </p:sp>
      <p:sp>
        <p:nvSpPr>
          <p:cNvPr id="5" name="feature-image-backing-17">
            <a:extLst xmlns:a="http://schemas.openxmlformats.org/drawingml/2006/main">
              <a:ext uri="{FF2B5EF4-FFF2-40B4-BE49-F238E27FC236}">
                <a16:creationId xmlns:a16="http://schemas.microsoft.com/office/drawing/2014/main" id="{07F56A61-EFD9-4227-ABA6-E12DD8FB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7324725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CE1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031e0091b4630"/>
          <a:stretch xmlns:a="http://schemas.openxmlformats.org/drawingml/2006/main"/>
        </p:blipFill>
        <p:spPr>
          <a:xfrm xmlns:a="http://schemas.openxmlformats.org/drawingml/2006/main">
            <a:off x="5205226" y="1447800"/>
            <a:ext cx="5867773" cy="4438650"/>
          </a:xfrm>
          <a:prstGeom xmlns:a="http://schemas.openxmlformats.org/drawingml/2006/main" prst="roundRect">
            <a:avLst>
              <a:gd name="adj" fmla="val 1717"/>
            </a:avLst>
          </a:prstGeom>
        </p:spPr>
      </p:pic>
      <p:sp>
        <p:nvSpPr>
          <p:cNvPr id="7" name="feature-footer-17">
            <a:extLst xmlns:a="http://schemas.openxmlformats.org/drawingml/2006/main">
              <a:ext uri="{FF2B5EF4-FFF2-40B4-BE49-F238E27FC236}">
                <a16:creationId xmlns:a16="http://schemas.microsoft.com/office/drawing/2014/main" id="{BAECC409-5A3C-4034-B87A-ADC2B405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2683206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2A1151B4-6B42-47ED-A46A-116BA617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F55DDA9-F113-4ACF-B896-504C4866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226190E9-8569-49CB-9CD0-553392CA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B13C4AC-4064-40C7-9EB4-C1A4F6A0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491942F-D41F-48F5-ADF3-A47822C0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结果证明这条产品链路已经能够完整运行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88AC655-9389-4AE3-AD93-A3616E27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Development
严格通过率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36DDA6C-66AE-45FF-A27B-1B6A43C0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76001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Development、Regression
与 Locked 用例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1F650ADB-903D-4A38-9654-0F23FC65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危险执行与
错误指标选择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A7FF5D6-4AE8-465E-8682-2A3FAC66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99.11%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84AF73F-D5B7-4727-976A-DC5BB1D3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4C202B9-A532-4298-A6D1-7603B6C1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2,350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BD34310-841A-4167-B38C-A072F94A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现有资产覆盖 42 张表、442 个字段和约 792.5 万行模拟生产数据；Development 测评覆盖完整产品链路。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939319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EA6BD16-01A6-4EE7-AD4B-9428AE87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8E4E742-FE21-448B-A8AC-9E3A5C1C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DataPath 的特点不是功能更多，而是把问数做成可运营产品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89BB9AC-F544-43D1-8E36-4E19C8AB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提供语言能力；确定性系统守住业务事实、权限、执行和发布边界。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E2A9FA0-FD28-487E-AFD6-A9A26EE9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功能覆盖完整产品链路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681D2553-F3DB-467F-AFF0-D2D4A2DC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877E0861-F689-4F32-B2F9-FC762E13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完整功能覆盖上线前的事实准备、在线问数，以及上线后的结构变化和错误修复。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AI 预热降低冷启动成本；Bad Case 与 Golden 让真实错误持续沉淀为能力。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E1A962B-F05B-47E4-9498-E329F9C1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高风险执行失败关闭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918ACD0-09F7-4761-9B7A-AB10FFF8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05FB8894-6E68-455C-829D-CF011774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所有答案都有证据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1AF90572-22BC-405B-8841-C539706E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233C89B1-F034-4DDE-BF12-F536CDE7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真实变化能够被接住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2DFC70A9-9FBD-4687-BFEE-09552FE7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F0A72158-6FE9-457D-B699-BA6C1318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使用过程持续积累能力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DE5F229B-C0DD-4913-823B-7BCA5B03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725334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2026-07-28T03:23:36.0660000Z</dcterms:created>
  <dcterms:modified xsi:type="dcterms:W3CDTF">2026-07-28T03:23:36.0660000Z</dcterms:modified>
</coreProperties>
</file>